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PACT-GP: one shared policy, many local peer agents</a:t>
            </a:r>
          </a:p>
          <a:p>
            <a:r>
              <a:t>Offline evolution changes expression trees. Online Skills apply the frozen trees to different private local inputs.</a:t>
            </a:r>
          </a:p>
          <a:p>
            <a:r>
              <a:t>Native editable PowerPoint geometry and text. No LLM in either phase. Orange: offline GP; blue: site agents / Skills; green: fixed protocol; purple: actual execution. See README.md for notation and regeneration.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Peer matching: two receivers compete for one donor</a:t>
            </a:r>
          </a:p>
          <a:p>
            <a:r>
              <a:t>Illustrative K = 0 example (simulator default K = 10): G(q) = 1.5q. All promises are pre-demand.</a:t>
            </a:r>
          </a:p>
          <a:p>
            <a:r>
              <a:t>Native editable PowerPoint geometry and text. No LLM in either phase. Orange: offline GP; blue: site agents / Skills; green: fixed protocol; purple: actual execution. See README.md for notation and regeneration.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PACT-GP: offline search and leakage-free policy selection</a:t>
            </a:r>
          </a:p>
          <a:p>
            <a:r>
              <a:t>The genotype is a three-tree individual. The entire fixed online protocol is executed inside every seeded training episode.</a:t>
            </a:r>
          </a:p>
          <a:p>
            <a:r>
              <a:t>Native editable PowerPoint geometry and text. No LLM in either phase. Orange: offline GP; blue: site agents / Skills; green: fixed protocol; purple: actual execution. See README.md for notation and regeneration.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GP individual contains three role-specific trees</a:t>
            </a:r>
          </a:p>
          <a:p>
            <a:r>
              <a:t>Illustrative valid expressions, not initialized seed or trained optimum. All nodes and edges are editable.</a:t>
            </a:r>
          </a:p>
          <a:p>
            <a:r>
              <a:t>Native editable PowerPoint geometry and text. No LLM in either phase. Orange: offline GP; blue: site agents / Skills; green: fixed protocol; purple: actual execution. See README.md for notation and regeneration.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Conditional promises are not realized transshipments</a:t>
            </a:r>
          </a:p>
          <a:p>
            <a:r>
              <a:t>Negotiation precedes current demand. Physical dispatch is decided only by the fixed post-demand feasibility recheck.</a:t>
            </a:r>
          </a:p>
          <a:p>
            <a:r>
              <a:t>Native editable PowerPoint geometry and text. No LLM in either phase. Orange: offline GP; blue: site agents / Skills; green: fixed protocol; purple: actual execution. See README.md for notation and regeneration.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Fixed local gain evaluator and peer message interface</a:t>
            </a:r>
          </a:p>
          <a:p>
            <a:r>
              <a:t>Conservative forecast caps keep Φ on linear branches. Heuristic ranking, not an expected-cost guarantee.</a:t>
            </a:r>
          </a:p>
          <a:p>
            <a:r>
              <a:t>Native editable PowerPoint geometry and text. No LLM in either phase. Orange: offline GP; blue: site agents / Skills; green: fixed protocol; purple: actual execution. See README.md for notation and regeneration.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 name="architecture">
    <p:spTree>
      <p:nvGrpSpPr>
        <p:cNvPr id="1" name=""/>
        <p:cNvGrpSpPr/>
        <p:nvPr/>
      </p:nvGrpSpPr>
      <p:grpSpPr/>
      <p:sp>
        <p:nvSpPr>
          <p:cNvPr id="2" name="architecture:001:rect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architecture:002:text"/>
          <p:cNvSpPr txBox="1"/>
          <p:nvPr/>
        </p:nvSpPr>
        <p:spPr>
          <a:xfrm>
            <a:off x="457200" y="281813"/>
            <a:ext cx="13350240" cy="50622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203047"/>
                </a:solidFill>
                <a:latin typeface="Arial"/>
              </a:rPr>
              <a:t>PACT-GP: one shared policy, many local peer agents</a:t>
            </a:r>
          </a:p>
        </p:txBody>
      </p:sp>
      <p:sp>
        <p:nvSpPr>
          <p:cNvPr id="4" name="architecture:003:text"/>
          <p:cNvSpPr txBox="1"/>
          <p:nvPr/>
        </p:nvSpPr>
        <p:spPr>
          <a:xfrm>
            <a:off x="457200" y="877824"/>
            <a:ext cx="13716000" cy="51206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36477"/>
                </a:solidFill>
                <a:latin typeface="Arial"/>
              </a:rPr>
              <a:t>Offline evolution changes expression trees. Online Skills apply the frozen trees to different private local inputs.</a:t>
            </a:r>
          </a:p>
        </p:txBody>
      </p:sp>
      <p:cxnSp>
        <p:nvCxnSpPr>
          <p:cNvPr id="5" name="architecture:004:line"/>
          <p:cNvCxnSpPr/>
          <p:nvPr/>
        </p:nvCxnSpPr>
        <p:spPr>
          <a:xfrm>
            <a:off x="457200" y="1444752"/>
            <a:ext cx="13716000" cy="0"/>
          </a:xfrm>
          <a:prstGeom prst="line">
            <a:avLst/>
          </a:prstGeom>
          <a:ln w="12700">
            <a:solidFill>
              <a:srgbClr val="D8E0E8"/>
            </a:solidFill>
            <a:headEnd type="none" w="sm" len="sm"/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architecture:005:round"/>
          <p:cNvSpPr/>
          <p:nvPr/>
        </p:nvSpPr>
        <p:spPr>
          <a:xfrm>
            <a:off x="457200" y="1719072"/>
            <a:ext cx="2971800" cy="5367528"/>
          </a:xfrm>
          <a:prstGeom prst="roundRect">
            <a:avLst>
              <a:gd name="adj" fmla="val 9000"/>
            </a:avLst>
          </a:prstGeom>
          <a:solidFill>
            <a:srgbClr val="FFF3E7"/>
          </a:solidFill>
          <a:ln w="12700">
            <a:solidFill>
              <a:srgbClr val="C87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architecture:006:text"/>
          <p:cNvSpPr txBox="1"/>
          <p:nvPr/>
        </p:nvSpPr>
        <p:spPr>
          <a:xfrm>
            <a:off x="658368" y="1892807"/>
            <a:ext cx="2587752" cy="3474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C87524"/>
                </a:solidFill>
                <a:latin typeface="Arial"/>
              </a:rPr>
              <a:t>OFFLINE  |  GP search</a:t>
            </a:r>
          </a:p>
        </p:txBody>
      </p:sp>
      <p:sp>
        <p:nvSpPr>
          <p:cNvPr id="8" name="architecture:007:round"/>
          <p:cNvSpPr/>
          <p:nvPr/>
        </p:nvSpPr>
        <p:spPr>
          <a:xfrm>
            <a:off x="694944" y="2532888"/>
            <a:ext cx="2496312" cy="10972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87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03047"/>
                </a:solidFill>
                <a:latin typeface="Arial"/>
              </a:rPr>
              <a:t>One GP individual g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03047"/>
                </a:solidFill>
                <a:latin typeface="Arial"/>
              </a:rPr>
              <a:t>(T_order, T_request, T_offer)</a:t>
            </a:r>
          </a:p>
        </p:txBody>
      </p:sp>
      <p:sp>
        <p:nvSpPr>
          <p:cNvPr id="9" name="architecture:008:round"/>
          <p:cNvSpPr/>
          <p:nvPr/>
        </p:nvSpPr>
        <p:spPr>
          <a:xfrm>
            <a:off x="694944" y="4187952"/>
            <a:ext cx="2496312" cy="114300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87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3047"/>
                </a:solidFill>
                <a:latin typeface="Arial"/>
              </a:rPr>
              <a:t>Centralized simulator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3047"/>
                </a:solidFill>
                <a:latin typeface="Arial"/>
              </a:rPr>
              <a:t>Seeded episodes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3047"/>
                </a:solidFill>
                <a:latin typeface="Arial"/>
              </a:rPr>
              <a:t>Fitness / genetic variation</a:t>
            </a:r>
          </a:p>
        </p:txBody>
      </p:sp>
      <p:cxnSp>
        <p:nvCxnSpPr>
          <p:cNvPr id="10" name="architecture:009:line"/>
          <p:cNvCxnSpPr/>
          <p:nvPr/>
        </p:nvCxnSpPr>
        <p:spPr>
          <a:xfrm flipV="1">
            <a:off x="1938528" y="3630168"/>
            <a:ext cx="0" cy="557784"/>
          </a:xfrm>
          <a:prstGeom prst="line">
            <a:avLst/>
          </a:prstGeom>
          <a:ln w="21590">
            <a:solidFill>
              <a:srgbClr val="C87524"/>
            </a:solidFill>
            <a:headEnd type="non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architecture:010:text"/>
          <p:cNvSpPr txBox="1"/>
          <p:nvPr/>
        </p:nvSpPr>
        <p:spPr>
          <a:xfrm>
            <a:off x="731520" y="5678424"/>
            <a:ext cx="2423160" cy="932688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36477"/>
                </a:solidFill>
                <a:latin typeface="Arial"/>
              </a:rPr>
              <a:t>Evolve three trees.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36477"/>
                </a:solidFill>
                <a:latin typeface="Arial"/>
              </a:rPr>
              <a:t>Freeze validated g.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36477"/>
                </a:solidFill>
                <a:latin typeface="Arial"/>
              </a:rPr>
              <a:t>No online controller.</a:t>
            </a:r>
          </a:p>
        </p:txBody>
      </p:sp>
      <p:sp>
        <p:nvSpPr>
          <p:cNvPr id="12" name="architecture:011:round"/>
          <p:cNvSpPr/>
          <p:nvPr/>
        </p:nvSpPr>
        <p:spPr>
          <a:xfrm>
            <a:off x="3822191" y="1719072"/>
            <a:ext cx="10351008" cy="536752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2369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3" name="architecture:012:text"/>
          <p:cNvSpPr txBox="1"/>
          <p:nvPr/>
        </p:nvSpPr>
        <p:spPr>
          <a:xfrm>
            <a:off x="4069080" y="1892807"/>
            <a:ext cx="9784080" cy="3474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369A4"/>
                </a:solidFill>
                <a:latin typeface="Arial"/>
              </a:rPr>
              <a:t>ONLINE  |  decentralized deterministic Skills</a:t>
            </a:r>
          </a:p>
        </p:txBody>
      </p:sp>
      <p:sp>
        <p:nvSpPr>
          <p:cNvPr id="14" name="architecture:013:round"/>
          <p:cNvSpPr/>
          <p:nvPr/>
        </p:nvSpPr>
        <p:spPr>
          <a:xfrm>
            <a:off x="4069080" y="2423160"/>
            <a:ext cx="9829800" cy="502920"/>
          </a:xfrm>
          <a:prstGeom prst="roundRect">
            <a:avLst>
              <a:gd name="adj" fmla="val 9000"/>
            </a:avLst>
          </a:prstGeom>
          <a:solidFill>
            <a:srgbClr val="FFF3E7"/>
          </a:solidFill>
          <a:ln w="12700">
            <a:solidFill>
              <a:srgbClr val="C87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C87524"/>
                </a:solidFill>
                <a:latin typeface="Arial"/>
              </a:rPr>
              <a:t>Same frozen individual at every site; local inputs and state differ</a:t>
            </a:r>
          </a:p>
        </p:txBody>
      </p:sp>
      <p:cxnSp>
        <p:nvCxnSpPr>
          <p:cNvPr id="15" name="architecture:014:line"/>
          <p:cNvCxnSpPr/>
          <p:nvPr/>
        </p:nvCxnSpPr>
        <p:spPr>
          <a:xfrm flipV="1">
            <a:off x="3191256" y="2688336"/>
            <a:ext cx="877824" cy="393192"/>
          </a:xfrm>
          <a:prstGeom prst="line">
            <a:avLst/>
          </a:prstGeom>
          <a:ln w="21590">
            <a:solidFill>
              <a:srgbClr val="C87524"/>
            </a:solidFill>
            <a:headEnd type="non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architecture:015:round"/>
          <p:cNvSpPr/>
          <p:nvPr/>
        </p:nvSpPr>
        <p:spPr>
          <a:xfrm>
            <a:off x="4096512" y="3319272"/>
            <a:ext cx="2862072" cy="3246120"/>
          </a:xfrm>
          <a:prstGeom prst="roundRect">
            <a:avLst>
              <a:gd name="adj" fmla="val 9000"/>
            </a:avLst>
          </a:prstGeom>
          <a:solidFill>
            <a:srgbClr val="EDF5FC"/>
          </a:solidFill>
          <a:ln w="12700">
            <a:solidFill>
              <a:srgbClr val="2369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7" name="architecture:016:text"/>
          <p:cNvSpPr txBox="1"/>
          <p:nvPr/>
        </p:nvSpPr>
        <p:spPr>
          <a:xfrm>
            <a:off x="4233672" y="3451352"/>
            <a:ext cx="2587752" cy="35763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369A4"/>
                </a:solidFill>
                <a:latin typeface="Arial"/>
              </a:rPr>
              <a:t>Agent A</a:t>
            </a:r>
          </a:p>
        </p:txBody>
      </p:sp>
      <p:sp>
        <p:nvSpPr>
          <p:cNvPr id="18" name="architecture:017:text"/>
          <p:cNvSpPr txBox="1"/>
          <p:nvPr/>
        </p:nvSpPr>
        <p:spPr>
          <a:xfrm>
            <a:off x="4242816" y="3831335"/>
            <a:ext cx="2569464" cy="6217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3047"/>
                </a:solidFill>
                <a:latin typeface="Arial"/>
              </a:rPr>
              <a:t>Own inventory, pipeline,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3047"/>
                </a:solidFill>
                <a:latin typeface="Arial"/>
              </a:rPr>
              <a:t>forecast and costs</a:t>
            </a:r>
          </a:p>
        </p:txBody>
      </p:sp>
      <p:sp>
        <p:nvSpPr>
          <p:cNvPr id="19" name="architecture:018:round"/>
          <p:cNvSpPr/>
          <p:nvPr/>
        </p:nvSpPr>
        <p:spPr>
          <a:xfrm>
            <a:off x="4242816" y="4553712"/>
            <a:ext cx="2569464" cy="466344"/>
          </a:xfrm>
          <a:prstGeom prst="roundRect">
            <a:avLst>
              <a:gd name="adj" fmla="val 9000"/>
            </a:avLst>
          </a:prstGeom>
          <a:solidFill>
            <a:srgbClr val="FFF3E7"/>
          </a:solidFill>
          <a:ln w="12700">
            <a:solidFill>
              <a:srgbClr val="C87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C87524"/>
                </a:solidFill>
                <a:latin typeface="Arial"/>
              </a:rPr>
              <a:t>Shared three-tree g</a:t>
            </a:r>
          </a:p>
        </p:txBody>
      </p:sp>
      <p:cxnSp>
        <p:nvCxnSpPr>
          <p:cNvPr id="20" name="architecture:019:line"/>
          <p:cNvCxnSpPr/>
          <p:nvPr/>
        </p:nvCxnSpPr>
        <p:spPr>
          <a:xfrm>
            <a:off x="5532120" y="2926080"/>
            <a:ext cx="0" cy="393192"/>
          </a:xfrm>
          <a:prstGeom prst="line">
            <a:avLst/>
          </a:prstGeom>
          <a:ln w="21590">
            <a:solidFill>
              <a:srgbClr val="C87524"/>
            </a:solidFill>
            <a:headEnd type="non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architecture:020:round"/>
          <p:cNvSpPr/>
          <p:nvPr/>
        </p:nvSpPr>
        <p:spPr>
          <a:xfrm>
            <a:off x="4242816" y="5239512"/>
            <a:ext cx="2569464" cy="713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2369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369A4"/>
                </a:solidFill>
                <a:latin typeface="Arial"/>
              </a:rPr>
              <a:t>Skills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369A4"/>
                </a:solidFill>
                <a:latin typeface="Arial"/>
              </a:rPr>
              <a:t>order / request / offer</a:t>
            </a:r>
          </a:p>
        </p:txBody>
      </p:sp>
      <p:cxnSp>
        <p:nvCxnSpPr>
          <p:cNvPr id="22" name="architecture:021:line"/>
          <p:cNvCxnSpPr/>
          <p:nvPr/>
        </p:nvCxnSpPr>
        <p:spPr>
          <a:xfrm>
            <a:off x="5532120" y="5020056"/>
            <a:ext cx="0" cy="219456"/>
          </a:xfrm>
          <a:prstGeom prst="line">
            <a:avLst/>
          </a:prstGeom>
          <a:ln w="21590">
            <a:solidFill>
              <a:srgbClr val="C87524"/>
            </a:solidFill>
            <a:headEnd type="non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architecture:022:text"/>
          <p:cNvSpPr txBox="1"/>
          <p:nvPr/>
        </p:nvSpPr>
        <p:spPr>
          <a:xfrm>
            <a:off x="4242816" y="5957316"/>
            <a:ext cx="2569464" cy="6217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3047"/>
                </a:solidFill>
                <a:latin typeface="Arial"/>
              </a:rPr>
              <a:t>Reservations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3047"/>
                </a:solidFill>
                <a:latin typeface="Arial"/>
              </a:rPr>
              <a:t>Actual-flow history</a:t>
            </a:r>
          </a:p>
        </p:txBody>
      </p:sp>
      <p:sp>
        <p:nvSpPr>
          <p:cNvPr id="24" name="architecture:023:round"/>
          <p:cNvSpPr/>
          <p:nvPr/>
        </p:nvSpPr>
        <p:spPr>
          <a:xfrm>
            <a:off x="7424927" y="3319272"/>
            <a:ext cx="2862072" cy="3246120"/>
          </a:xfrm>
          <a:prstGeom prst="roundRect">
            <a:avLst>
              <a:gd name="adj" fmla="val 9000"/>
            </a:avLst>
          </a:prstGeom>
          <a:solidFill>
            <a:srgbClr val="EDF5FC"/>
          </a:solidFill>
          <a:ln w="12700">
            <a:solidFill>
              <a:srgbClr val="2369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5" name="architecture:024:text"/>
          <p:cNvSpPr txBox="1"/>
          <p:nvPr/>
        </p:nvSpPr>
        <p:spPr>
          <a:xfrm>
            <a:off x="7562088" y="3451352"/>
            <a:ext cx="2587752" cy="35763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369A4"/>
                </a:solidFill>
                <a:latin typeface="Arial"/>
              </a:rPr>
              <a:t>Agent B</a:t>
            </a:r>
          </a:p>
        </p:txBody>
      </p:sp>
      <p:sp>
        <p:nvSpPr>
          <p:cNvPr id="26" name="architecture:025:text"/>
          <p:cNvSpPr txBox="1"/>
          <p:nvPr/>
        </p:nvSpPr>
        <p:spPr>
          <a:xfrm>
            <a:off x="7571231" y="3831335"/>
            <a:ext cx="2569464" cy="6217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3047"/>
                </a:solidFill>
                <a:latin typeface="Arial"/>
              </a:rPr>
              <a:t>Own inventory, pipeline,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3047"/>
                </a:solidFill>
                <a:latin typeface="Arial"/>
              </a:rPr>
              <a:t>forecast and costs</a:t>
            </a:r>
          </a:p>
        </p:txBody>
      </p:sp>
      <p:sp>
        <p:nvSpPr>
          <p:cNvPr id="27" name="architecture:026:round"/>
          <p:cNvSpPr/>
          <p:nvPr/>
        </p:nvSpPr>
        <p:spPr>
          <a:xfrm>
            <a:off x="7571231" y="4553712"/>
            <a:ext cx="2569464" cy="466344"/>
          </a:xfrm>
          <a:prstGeom prst="roundRect">
            <a:avLst>
              <a:gd name="adj" fmla="val 9000"/>
            </a:avLst>
          </a:prstGeom>
          <a:solidFill>
            <a:srgbClr val="FFF3E7"/>
          </a:solidFill>
          <a:ln w="12700">
            <a:solidFill>
              <a:srgbClr val="C87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C87524"/>
                </a:solidFill>
                <a:latin typeface="Arial"/>
              </a:rPr>
              <a:t>Shared three-tree g</a:t>
            </a:r>
          </a:p>
        </p:txBody>
      </p:sp>
      <p:cxnSp>
        <p:nvCxnSpPr>
          <p:cNvPr id="28" name="architecture:027:line"/>
          <p:cNvCxnSpPr/>
          <p:nvPr/>
        </p:nvCxnSpPr>
        <p:spPr>
          <a:xfrm>
            <a:off x="8860536" y="2926080"/>
            <a:ext cx="0" cy="393192"/>
          </a:xfrm>
          <a:prstGeom prst="line">
            <a:avLst/>
          </a:prstGeom>
          <a:ln w="21590">
            <a:solidFill>
              <a:srgbClr val="C87524"/>
            </a:solidFill>
            <a:headEnd type="non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architecture:028:round"/>
          <p:cNvSpPr/>
          <p:nvPr/>
        </p:nvSpPr>
        <p:spPr>
          <a:xfrm>
            <a:off x="7571231" y="5239512"/>
            <a:ext cx="2569464" cy="713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2369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369A4"/>
                </a:solidFill>
                <a:latin typeface="Arial"/>
              </a:rPr>
              <a:t>Skills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369A4"/>
                </a:solidFill>
                <a:latin typeface="Arial"/>
              </a:rPr>
              <a:t>order / request / offer</a:t>
            </a:r>
          </a:p>
        </p:txBody>
      </p:sp>
      <p:cxnSp>
        <p:nvCxnSpPr>
          <p:cNvPr id="30" name="architecture:029:line"/>
          <p:cNvCxnSpPr/>
          <p:nvPr/>
        </p:nvCxnSpPr>
        <p:spPr>
          <a:xfrm>
            <a:off x="8860536" y="5020056"/>
            <a:ext cx="0" cy="219456"/>
          </a:xfrm>
          <a:prstGeom prst="line">
            <a:avLst/>
          </a:prstGeom>
          <a:ln w="21590">
            <a:solidFill>
              <a:srgbClr val="C87524"/>
            </a:solidFill>
            <a:headEnd type="non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architecture:030:text"/>
          <p:cNvSpPr txBox="1"/>
          <p:nvPr/>
        </p:nvSpPr>
        <p:spPr>
          <a:xfrm>
            <a:off x="7571231" y="5957316"/>
            <a:ext cx="2569464" cy="6217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3047"/>
                </a:solidFill>
                <a:latin typeface="Arial"/>
              </a:rPr>
              <a:t>Reservations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3047"/>
                </a:solidFill>
                <a:latin typeface="Arial"/>
              </a:rPr>
              <a:t>Actual-flow history</a:t>
            </a:r>
          </a:p>
        </p:txBody>
      </p:sp>
      <p:sp>
        <p:nvSpPr>
          <p:cNvPr id="32" name="architecture:031:round"/>
          <p:cNvSpPr/>
          <p:nvPr/>
        </p:nvSpPr>
        <p:spPr>
          <a:xfrm>
            <a:off x="10753344" y="3319272"/>
            <a:ext cx="2862072" cy="3246120"/>
          </a:xfrm>
          <a:prstGeom prst="roundRect">
            <a:avLst>
              <a:gd name="adj" fmla="val 9000"/>
            </a:avLst>
          </a:prstGeom>
          <a:solidFill>
            <a:srgbClr val="EDF5FC"/>
          </a:solidFill>
          <a:ln w="12700">
            <a:solidFill>
              <a:srgbClr val="2369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3" name="architecture:032:text"/>
          <p:cNvSpPr txBox="1"/>
          <p:nvPr/>
        </p:nvSpPr>
        <p:spPr>
          <a:xfrm>
            <a:off x="10890504" y="3451352"/>
            <a:ext cx="2587752" cy="357631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369A4"/>
                </a:solidFill>
                <a:latin typeface="Arial"/>
              </a:rPr>
              <a:t>Agent C</a:t>
            </a:r>
          </a:p>
        </p:txBody>
      </p:sp>
      <p:sp>
        <p:nvSpPr>
          <p:cNvPr id="34" name="architecture:033:text"/>
          <p:cNvSpPr txBox="1"/>
          <p:nvPr/>
        </p:nvSpPr>
        <p:spPr>
          <a:xfrm>
            <a:off x="10899648" y="3831335"/>
            <a:ext cx="2569464" cy="6217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3047"/>
                </a:solidFill>
                <a:latin typeface="Arial"/>
              </a:rPr>
              <a:t>Own inventory, pipeline,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3047"/>
                </a:solidFill>
                <a:latin typeface="Arial"/>
              </a:rPr>
              <a:t>forecast and costs</a:t>
            </a:r>
          </a:p>
        </p:txBody>
      </p:sp>
      <p:sp>
        <p:nvSpPr>
          <p:cNvPr id="35" name="architecture:034:round"/>
          <p:cNvSpPr/>
          <p:nvPr/>
        </p:nvSpPr>
        <p:spPr>
          <a:xfrm>
            <a:off x="10899648" y="4553712"/>
            <a:ext cx="2569464" cy="466344"/>
          </a:xfrm>
          <a:prstGeom prst="roundRect">
            <a:avLst>
              <a:gd name="adj" fmla="val 9000"/>
            </a:avLst>
          </a:prstGeom>
          <a:solidFill>
            <a:srgbClr val="FFF3E7"/>
          </a:solidFill>
          <a:ln w="12700">
            <a:solidFill>
              <a:srgbClr val="C87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C87524"/>
                </a:solidFill>
                <a:latin typeface="Arial"/>
              </a:rPr>
              <a:t>Shared three-tree g</a:t>
            </a:r>
          </a:p>
        </p:txBody>
      </p:sp>
      <p:cxnSp>
        <p:nvCxnSpPr>
          <p:cNvPr id="36" name="architecture:035:line"/>
          <p:cNvCxnSpPr/>
          <p:nvPr/>
        </p:nvCxnSpPr>
        <p:spPr>
          <a:xfrm>
            <a:off x="12188952" y="2926080"/>
            <a:ext cx="0" cy="393192"/>
          </a:xfrm>
          <a:prstGeom prst="line">
            <a:avLst/>
          </a:prstGeom>
          <a:ln w="21590">
            <a:solidFill>
              <a:srgbClr val="C87524"/>
            </a:solidFill>
            <a:headEnd type="non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architecture:036:round"/>
          <p:cNvSpPr/>
          <p:nvPr/>
        </p:nvSpPr>
        <p:spPr>
          <a:xfrm>
            <a:off x="10899648" y="5239512"/>
            <a:ext cx="2569464" cy="7132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2369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369A4"/>
                </a:solidFill>
                <a:latin typeface="Arial"/>
              </a:rPr>
              <a:t>Skills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369A4"/>
                </a:solidFill>
                <a:latin typeface="Arial"/>
              </a:rPr>
              <a:t>order / request / offer</a:t>
            </a:r>
          </a:p>
        </p:txBody>
      </p:sp>
      <p:cxnSp>
        <p:nvCxnSpPr>
          <p:cNvPr id="38" name="architecture:037:line"/>
          <p:cNvCxnSpPr/>
          <p:nvPr/>
        </p:nvCxnSpPr>
        <p:spPr>
          <a:xfrm>
            <a:off x="12188952" y="5020056"/>
            <a:ext cx="0" cy="219456"/>
          </a:xfrm>
          <a:prstGeom prst="line">
            <a:avLst/>
          </a:prstGeom>
          <a:ln w="21590">
            <a:solidFill>
              <a:srgbClr val="C87524"/>
            </a:solidFill>
            <a:headEnd type="non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architecture:038:text"/>
          <p:cNvSpPr txBox="1"/>
          <p:nvPr/>
        </p:nvSpPr>
        <p:spPr>
          <a:xfrm>
            <a:off x="10899648" y="5957316"/>
            <a:ext cx="2569464" cy="6217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3047"/>
                </a:solidFill>
                <a:latin typeface="Arial"/>
              </a:rPr>
              <a:t>Reservations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3047"/>
                </a:solidFill>
                <a:latin typeface="Arial"/>
              </a:rPr>
              <a:t>Actual-flow history</a:t>
            </a:r>
          </a:p>
        </p:txBody>
      </p:sp>
      <p:cxnSp>
        <p:nvCxnSpPr>
          <p:cNvPr id="40" name="architecture:039:line"/>
          <p:cNvCxnSpPr/>
          <p:nvPr/>
        </p:nvCxnSpPr>
        <p:spPr>
          <a:xfrm>
            <a:off x="6976872" y="5486400"/>
            <a:ext cx="429768" cy="0"/>
          </a:xfrm>
          <a:prstGeom prst="line">
            <a:avLst/>
          </a:prstGeom>
          <a:ln w="21590">
            <a:solidFill>
              <a:srgbClr val="287B5A"/>
            </a:solidFill>
            <a:headEnd type="triangl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" name="architecture:040:line"/>
          <p:cNvCxnSpPr/>
          <p:nvPr/>
        </p:nvCxnSpPr>
        <p:spPr>
          <a:xfrm>
            <a:off x="10305288" y="5486400"/>
            <a:ext cx="429768" cy="0"/>
          </a:xfrm>
          <a:prstGeom prst="line">
            <a:avLst/>
          </a:prstGeom>
          <a:ln w="21590">
            <a:solidFill>
              <a:srgbClr val="287B5A"/>
            </a:solidFill>
            <a:headEnd type="triangl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2" name="architecture:041:text"/>
          <p:cNvSpPr txBox="1"/>
          <p:nvPr/>
        </p:nvSpPr>
        <p:spPr>
          <a:xfrm>
            <a:off x="4169663" y="6720840"/>
            <a:ext cx="9509760" cy="32918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87B5A"/>
                </a:solidFill>
                <a:latin typeface="Arial"/>
              </a:rPr>
              <a:t>Peer request / offer / confirm messages — no master / subordinate relation</a:t>
            </a:r>
          </a:p>
        </p:txBody>
      </p:sp>
      <p:sp>
        <p:nvSpPr>
          <p:cNvPr id="43" name="architecture:042:round"/>
          <p:cNvSpPr/>
          <p:nvPr/>
        </p:nvSpPr>
        <p:spPr>
          <a:xfrm>
            <a:off x="457200" y="7333488"/>
            <a:ext cx="13716000" cy="338328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36477"/>
                </a:solidFill>
                <a:latin typeface="Arial"/>
              </a:rPr>
              <a:t>Fixed, not evolved: role selection • bounds • gain proxy • mutual-best rounds • reserve / confirm • physical execution.   No LLM.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 name="negotiation">
    <p:spTree>
      <p:nvGrpSpPr>
        <p:cNvPr id="1" name=""/>
        <p:cNvGrpSpPr/>
        <p:nvPr/>
      </p:nvGrpSpPr>
      <p:grpSpPr/>
      <p:sp>
        <p:nvSpPr>
          <p:cNvPr id="2" name="negotiation:001:rect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negotiation:002:text"/>
          <p:cNvSpPr txBox="1"/>
          <p:nvPr/>
        </p:nvSpPr>
        <p:spPr>
          <a:xfrm>
            <a:off x="457200" y="281813"/>
            <a:ext cx="13350240" cy="50622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203047"/>
                </a:solidFill>
                <a:latin typeface="Arial"/>
              </a:rPr>
              <a:t>Peer matching: two receivers compete for one donor</a:t>
            </a:r>
          </a:p>
        </p:txBody>
      </p:sp>
      <p:sp>
        <p:nvSpPr>
          <p:cNvPr id="4" name="negotiation:003:text"/>
          <p:cNvSpPr txBox="1"/>
          <p:nvPr/>
        </p:nvSpPr>
        <p:spPr>
          <a:xfrm>
            <a:off x="457200" y="877824"/>
            <a:ext cx="13716000" cy="51206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36477"/>
                </a:solidFill>
                <a:latin typeface="Arial"/>
              </a:rPr>
              <a:t>Illustrative K = 0 example (simulator default K = 10): G(q) = 1.5q. All promises are pre-demand.</a:t>
            </a:r>
          </a:p>
        </p:txBody>
      </p:sp>
      <p:cxnSp>
        <p:nvCxnSpPr>
          <p:cNvPr id="5" name="negotiation:004:line"/>
          <p:cNvCxnSpPr/>
          <p:nvPr/>
        </p:nvCxnSpPr>
        <p:spPr>
          <a:xfrm>
            <a:off x="457200" y="1444752"/>
            <a:ext cx="13716000" cy="0"/>
          </a:xfrm>
          <a:prstGeom prst="line">
            <a:avLst/>
          </a:prstGeom>
          <a:ln w="12700">
            <a:solidFill>
              <a:srgbClr val="D8E0E8"/>
            </a:solidFill>
            <a:headEnd type="none" w="sm" len="sm"/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negotiation:005:round"/>
          <p:cNvSpPr/>
          <p:nvPr/>
        </p:nvSpPr>
        <p:spPr>
          <a:xfrm>
            <a:off x="457200" y="1719072"/>
            <a:ext cx="9326880" cy="3557016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negotiation:006:text"/>
          <p:cNvSpPr txBox="1"/>
          <p:nvPr/>
        </p:nvSpPr>
        <p:spPr>
          <a:xfrm>
            <a:off x="694944" y="1856231"/>
            <a:ext cx="8823960" cy="32918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87B5A"/>
                </a:solidFill>
                <a:latin typeface="Arial"/>
              </a:rPr>
              <a:t>ROUND 1  |  A and B both request from D</a:t>
            </a:r>
          </a:p>
        </p:txBody>
      </p:sp>
      <p:sp>
        <p:nvSpPr>
          <p:cNvPr id="8" name="negotiation:007:round"/>
          <p:cNvSpPr/>
          <p:nvPr/>
        </p:nvSpPr>
        <p:spPr>
          <a:xfrm>
            <a:off x="3803904" y="2450592"/>
            <a:ext cx="2606040" cy="932688"/>
          </a:xfrm>
          <a:prstGeom prst="roundRect">
            <a:avLst>
              <a:gd name="adj" fmla="val 9000"/>
            </a:avLst>
          </a:prstGeom>
          <a:solidFill>
            <a:srgbClr val="EDF5FC"/>
          </a:solidFill>
          <a:ln w="12700">
            <a:solidFill>
              <a:srgbClr val="2369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03047"/>
                </a:solidFill>
                <a:latin typeface="Arial"/>
              </a:rPr>
              <a:t>Donor D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03047"/>
                </a:solidFill>
                <a:latin typeface="Arial"/>
              </a:rPr>
              <a:t>Offer capacity = 10</a:t>
            </a:r>
          </a:p>
        </p:txBody>
      </p:sp>
      <p:sp>
        <p:nvSpPr>
          <p:cNvPr id="9" name="negotiation:008:round"/>
          <p:cNvSpPr/>
          <p:nvPr/>
        </p:nvSpPr>
        <p:spPr>
          <a:xfrm>
            <a:off x="786384" y="4023360"/>
            <a:ext cx="2606040" cy="932688"/>
          </a:xfrm>
          <a:prstGeom prst="roundRect">
            <a:avLst>
              <a:gd name="adj" fmla="val 9000"/>
            </a:avLst>
          </a:prstGeom>
          <a:solidFill>
            <a:srgbClr val="EDF5FC"/>
          </a:solidFill>
          <a:ln w="12700">
            <a:solidFill>
              <a:srgbClr val="2369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03047"/>
                </a:solidFill>
                <a:latin typeface="Arial"/>
              </a:rPr>
              <a:t>Receiver A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03047"/>
                </a:solidFill>
                <a:latin typeface="Arial"/>
              </a:rPr>
              <a:t>Request = 6</a:t>
            </a:r>
          </a:p>
        </p:txBody>
      </p:sp>
      <p:sp>
        <p:nvSpPr>
          <p:cNvPr id="10" name="negotiation:009:round"/>
          <p:cNvSpPr/>
          <p:nvPr/>
        </p:nvSpPr>
        <p:spPr>
          <a:xfrm>
            <a:off x="6858000" y="4023360"/>
            <a:ext cx="2606040" cy="932688"/>
          </a:xfrm>
          <a:prstGeom prst="roundRect">
            <a:avLst>
              <a:gd name="adj" fmla="val 9000"/>
            </a:avLst>
          </a:prstGeom>
          <a:solidFill>
            <a:srgbClr val="EDF5FC"/>
          </a:solidFill>
          <a:ln w="12700">
            <a:solidFill>
              <a:srgbClr val="2369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03047"/>
                </a:solidFill>
                <a:latin typeface="Arial"/>
              </a:rPr>
              <a:t>Receiver B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03047"/>
                </a:solidFill>
                <a:latin typeface="Arial"/>
              </a:rPr>
              <a:t>Request = 8</a:t>
            </a:r>
          </a:p>
        </p:txBody>
      </p:sp>
      <p:cxnSp>
        <p:nvCxnSpPr>
          <p:cNvPr id="11" name="negotiation:010:line"/>
          <p:cNvCxnSpPr/>
          <p:nvPr/>
        </p:nvCxnSpPr>
        <p:spPr>
          <a:xfrm flipV="1">
            <a:off x="3255264" y="3383280"/>
            <a:ext cx="859536" cy="640080"/>
          </a:xfrm>
          <a:prstGeom prst="line">
            <a:avLst/>
          </a:prstGeom>
          <a:ln w="25400">
            <a:solidFill>
              <a:srgbClr val="287B5A"/>
            </a:solidFill>
            <a:headEnd type="triangl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negotiation:011:line"/>
          <p:cNvCxnSpPr/>
          <p:nvPr/>
        </p:nvCxnSpPr>
        <p:spPr>
          <a:xfrm>
            <a:off x="6126480" y="3383280"/>
            <a:ext cx="877824" cy="640080"/>
          </a:xfrm>
          <a:prstGeom prst="line">
            <a:avLst/>
          </a:prstGeom>
          <a:ln w="33020">
            <a:solidFill>
              <a:srgbClr val="287B5A"/>
            </a:solidFill>
            <a:headEnd type="triangl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negotiation:012:text"/>
          <p:cNvSpPr txBox="1"/>
          <p:nvPr/>
        </p:nvSpPr>
        <p:spPr>
          <a:xfrm>
            <a:off x="822960" y="2928365"/>
            <a:ext cx="2697480" cy="9189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87B5A"/>
                </a:solidFill>
                <a:latin typeface="Arial"/>
              </a:rPr>
              <a:t>q = 6; gain = 9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87B5A"/>
                </a:solidFill>
                <a:latin typeface="Arial"/>
              </a:rPr>
              <a:t>A chooses D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87B5A"/>
                </a:solidFill>
                <a:latin typeface="Arial"/>
              </a:rPr>
              <a:t>D rejects A</a:t>
            </a:r>
          </a:p>
        </p:txBody>
      </p:sp>
      <p:sp>
        <p:nvSpPr>
          <p:cNvPr id="14" name="negotiation:013:text"/>
          <p:cNvSpPr txBox="1"/>
          <p:nvPr/>
        </p:nvSpPr>
        <p:spPr>
          <a:xfrm>
            <a:off x="6793992" y="2928365"/>
            <a:ext cx="2697480" cy="9189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87B5A"/>
                </a:solidFill>
                <a:latin typeface="Arial"/>
              </a:rPr>
              <a:t>q = 8; gain = 12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87B5A"/>
                </a:solidFill>
                <a:latin typeface="Arial"/>
              </a:rPr>
              <a:t>D and B choose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87B5A"/>
                </a:solidFill>
                <a:latin typeface="Arial"/>
              </a:rPr>
              <a:t>one another</a:t>
            </a:r>
          </a:p>
        </p:txBody>
      </p:sp>
      <p:sp>
        <p:nvSpPr>
          <p:cNvPr id="15" name="negotiation:014:round"/>
          <p:cNvSpPr/>
          <p:nvPr/>
        </p:nvSpPr>
        <p:spPr>
          <a:xfrm>
            <a:off x="3803904" y="4133087"/>
            <a:ext cx="2606040" cy="713232"/>
          </a:xfrm>
          <a:prstGeom prst="roundRect">
            <a:avLst>
              <a:gd name="adj" fmla="val 9000"/>
            </a:avLst>
          </a:prstGeom>
          <a:solidFill>
            <a:srgbClr val="EDF8F1"/>
          </a:solidFill>
          <a:ln w="12700">
            <a:solidFill>
              <a:srgbClr val="287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87B5A"/>
                </a:solidFill>
                <a:latin typeface="Arial"/>
              </a:rPr>
              <a:t>Mutual best: D–B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87B5A"/>
                </a:solidFill>
                <a:latin typeface="Arial"/>
              </a:rPr>
              <a:t>Reserve 8 each</a:t>
            </a:r>
          </a:p>
        </p:txBody>
      </p:sp>
      <p:cxnSp>
        <p:nvCxnSpPr>
          <p:cNvPr id="16" name="negotiation:015:line"/>
          <p:cNvCxnSpPr/>
          <p:nvPr/>
        </p:nvCxnSpPr>
        <p:spPr>
          <a:xfrm>
            <a:off x="5102352" y="3383280"/>
            <a:ext cx="0" cy="749807"/>
          </a:xfrm>
          <a:prstGeom prst="line">
            <a:avLst/>
          </a:prstGeom>
          <a:ln w="21590">
            <a:solidFill>
              <a:srgbClr val="287B5A"/>
            </a:solidFill>
            <a:headEnd type="non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negotiation:016:round"/>
          <p:cNvSpPr/>
          <p:nvPr/>
        </p:nvSpPr>
        <p:spPr>
          <a:xfrm>
            <a:off x="457200" y="5504688"/>
            <a:ext cx="9326880" cy="2112264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8" name="negotiation:017:text"/>
          <p:cNvSpPr txBox="1"/>
          <p:nvPr/>
        </p:nvSpPr>
        <p:spPr>
          <a:xfrm>
            <a:off x="694944" y="5632704"/>
            <a:ext cx="8823960" cy="32918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87B5A"/>
                </a:solidFill>
                <a:latin typeface="Arial"/>
              </a:rPr>
              <a:t>ROUND 2  |  reservations leave D with 2 units</a:t>
            </a:r>
          </a:p>
        </p:txBody>
      </p:sp>
      <p:sp>
        <p:nvSpPr>
          <p:cNvPr id="19" name="negotiation:018:round"/>
          <p:cNvSpPr/>
          <p:nvPr/>
        </p:nvSpPr>
        <p:spPr>
          <a:xfrm>
            <a:off x="786384" y="6236208"/>
            <a:ext cx="2606040" cy="822960"/>
          </a:xfrm>
          <a:prstGeom prst="roundRect">
            <a:avLst>
              <a:gd name="adj" fmla="val 9000"/>
            </a:avLst>
          </a:prstGeom>
          <a:solidFill>
            <a:srgbClr val="EDF5FC"/>
          </a:solidFill>
          <a:ln w="12700">
            <a:solidFill>
              <a:srgbClr val="2369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03047"/>
                </a:solidFill>
                <a:latin typeface="Arial"/>
              </a:rPr>
              <a:t>Receiver A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03047"/>
                </a:solidFill>
                <a:latin typeface="Arial"/>
              </a:rPr>
              <a:t>Request left = 6</a:t>
            </a:r>
          </a:p>
        </p:txBody>
      </p:sp>
      <p:sp>
        <p:nvSpPr>
          <p:cNvPr id="20" name="negotiation:019:round"/>
          <p:cNvSpPr/>
          <p:nvPr/>
        </p:nvSpPr>
        <p:spPr>
          <a:xfrm>
            <a:off x="3803904" y="6236208"/>
            <a:ext cx="2606040" cy="822960"/>
          </a:xfrm>
          <a:prstGeom prst="roundRect">
            <a:avLst>
              <a:gd name="adj" fmla="val 9000"/>
            </a:avLst>
          </a:prstGeom>
          <a:solidFill>
            <a:srgbClr val="EDF5FC"/>
          </a:solidFill>
          <a:ln w="12700">
            <a:solidFill>
              <a:srgbClr val="2369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03047"/>
                </a:solidFill>
                <a:latin typeface="Arial"/>
              </a:rPr>
              <a:t>Donor D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03047"/>
                </a:solidFill>
                <a:latin typeface="Arial"/>
              </a:rPr>
              <a:t>Offer left = 2</a:t>
            </a:r>
          </a:p>
        </p:txBody>
      </p:sp>
      <p:sp>
        <p:nvSpPr>
          <p:cNvPr id="21" name="negotiation:020:round"/>
          <p:cNvSpPr/>
          <p:nvPr/>
        </p:nvSpPr>
        <p:spPr>
          <a:xfrm>
            <a:off x="6858000" y="6236208"/>
            <a:ext cx="2606040" cy="822960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36477"/>
                </a:solidFill>
                <a:latin typeface="Arial"/>
              </a:rPr>
              <a:t>Receiver B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36477"/>
                </a:solidFill>
                <a:latin typeface="Arial"/>
              </a:rPr>
              <a:t>Request left = 0</a:t>
            </a:r>
          </a:p>
        </p:txBody>
      </p:sp>
      <p:cxnSp>
        <p:nvCxnSpPr>
          <p:cNvPr id="22" name="negotiation:021:line"/>
          <p:cNvCxnSpPr/>
          <p:nvPr/>
        </p:nvCxnSpPr>
        <p:spPr>
          <a:xfrm>
            <a:off x="3410712" y="6638544"/>
            <a:ext cx="374903" cy="0"/>
          </a:xfrm>
          <a:prstGeom prst="line">
            <a:avLst/>
          </a:prstGeom>
          <a:ln w="21590">
            <a:solidFill>
              <a:srgbClr val="287B5A"/>
            </a:solidFill>
            <a:headEnd type="triangl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negotiation:022:text"/>
          <p:cNvSpPr txBox="1"/>
          <p:nvPr/>
        </p:nvSpPr>
        <p:spPr>
          <a:xfrm>
            <a:off x="795528" y="7178040"/>
            <a:ext cx="8595360" cy="32918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87B5A"/>
                </a:solidFill>
                <a:latin typeface="Arial"/>
              </a:rPr>
              <a:t>D–A: q = 2, gain = 3; mutual best → reserve 2.  B has no residual request.</a:t>
            </a:r>
          </a:p>
        </p:txBody>
      </p:sp>
      <p:sp>
        <p:nvSpPr>
          <p:cNvPr id="24" name="negotiation:023:round"/>
          <p:cNvSpPr/>
          <p:nvPr/>
        </p:nvSpPr>
        <p:spPr>
          <a:xfrm>
            <a:off x="10085832" y="1719072"/>
            <a:ext cx="4087368" cy="5897880"/>
          </a:xfrm>
          <a:prstGeom prst="roundRect">
            <a:avLst>
              <a:gd name="adj" fmla="val 9000"/>
            </a:avLst>
          </a:prstGeom>
          <a:solidFill>
            <a:srgbClr val="EDF8F1"/>
          </a:solidFill>
          <a:ln w="12700">
            <a:solidFill>
              <a:srgbClr val="287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5" name="negotiation:024:text"/>
          <p:cNvSpPr txBox="1"/>
          <p:nvPr/>
        </p:nvSpPr>
        <p:spPr>
          <a:xfrm>
            <a:off x="10323576" y="1906905"/>
            <a:ext cx="3611880" cy="37414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87B5A"/>
                </a:solidFill>
                <a:latin typeface="Arial"/>
              </a:rPr>
              <a:t>Fixed matching rules</a:t>
            </a:r>
          </a:p>
        </p:txBody>
      </p:sp>
      <p:sp>
        <p:nvSpPr>
          <p:cNvPr id="26" name="negotiation:025:text"/>
          <p:cNvSpPr txBox="1"/>
          <p:nvPr/>
        </p:nvSpPr>
        <p:spPr>
          <a:xfrm>
            <a:off x="10323576" y="2494026"/>
            <a:ext cx="3602736" cy="15133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3047"/>
                </a:solidFill>
                <a:latin typeface="Arial"/>
              </a:rPr>
              <a:t>• Common total edge ranking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3047"/>
                </a:solidFill>
                <a:latin typeface="Arial"/>
              </a:rPr>
              <a:t>• Choose positive-gain best edge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3047"/>
                </a:solidFill>
                <a:latin typeface="Arial"/>
              </a:rPr>
              <a:t>• Confirm only mutual choices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3047"/>
                </a:solidFill>
                <a:latin typeface="Arial"/>
              </a:rPr>
              <a:t>• At most one partner per round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3047"/>
                </a:solidFill>
                <a:latin typeface="Arial"/>
              </a:rPr>
              <a:t>• Reserve before the next round</a:t>
            </a:r>
          </a:p>
        </p:txBody>
      </p:sp>
      <p:cxnSp>
        <p:nvCxnSpPr>
          <p:cNvPr id="27" name="negotiation:026:line"/>
          <p:cNvCxnSpPr/>
          <p:nvPr/>
        </p:nvCxnSpPr>
        <p:spPr>
          <a:xfrm>
            <a:off x="10323576" y="4233672"/>
            <a:ext cx="3611880" cy="0"/>
          </a:xfrm>
          <a:prstGeom prst="line">
            <a:avLst/>
          </a:prstGeom>
          <a:ln w="12700">
            <a:solidFill>
              <a:srgbClr val="287B5A"/>
            </a:solidFill>
            <a:headEnd type="none" w="sm" len="sm"/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negotiation:027:text"/>
          <p:cNvSpPr txBox="1"/>
          <p:nvPr/>
        </p:nvSpPr>
        <p:spPr>
          <a:xfrm>
            <a:off x="10323576" y="4448556"/>
            <a:ext cx="3611880" cy="32918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87B5A"/>
                </a:solidFill>
                <a:latin typeface="Arial"/>
              </a:rPr>
              <a:t>Conditional promise ledger</a:t>
            </a:r>
          </a:p>
        </p:txBody>
      </p:sp>
      <p:sp>
        <p:nvSpPr>
          <p:cNvPr id="29" name="negotiation:028:round"/>
          <p:cNvSpPr/>
          <p:nvPr/>
        </p:nvSpPr>
        <p:spPr>
          <a:xfrm>
            <a:off x="10332720" y="5010912"/>
            <a:ext cx="3593592" cy="932688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287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03047"/>
                </a:solidFill>
                <a:latin typeface="Arial"/>
              </a:rPr>
              <a:t>D–B: 8     D–A: 2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03047"/>
                </a:solidFill>
                <a:latin typeface="Arial"/>
              </a:rPr>
              <a:t>Total reserved at D = 10</a:t>
            </a:r>
          </a:p>
        </p:txBody>
      </p:sp>
      <p:sp>
        <p:nvSpPr>
          <p:cNvPr id="30" name="negotiation:029:text"/>
          <p:cNvSpPr txBox="1"/>
          <p:nvPr/>
        </p:nvSpPr>
        <p:spPr>
          <a:xfrm>
            <a:off x="10323576" y="6199632"/>
            <a:ext cx="3611880" cy="1042415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36477"/>
                </a:solidFill>
                <a:latin typeface="Arial"/>
              </a:rPr>
              <a:t>Promises are not dispatch.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36477"/>
                </a:solidFill>
                <a:latin typeface="Arial"/>
              </a:rPr>
              <a:t>No receive-forward.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36477"/>
                </a:solidFill>
                <a:latin typeface="Arial"/>
              </a:rPr>
              <a:t>Recheck after demand.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 name="gp_search">
    <p:spTree>
      <p:nvGrpSpPr>
        <p:cNvPr id="1" name=""/>
        <p:cNvGrpSpPr/>
        <p:nvPr/>
      </p:nvGrpSpPr>
      <p:grpSpPr/>
      <p:sp>
        <p:nvSpPr>
          <p:cNvPr id="2" name="gp_search:001:rect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gp_search:002:text"/>
          <p:cNvSpPr txBox="1"/>
          <p:nvPr/>
        </p:nvSpPr>
        <p:spPr>
          <a:xfrm>
            <a:off x="457200" y="281813"/>
            <a:ext cx="13350240" cy="50622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203047"/>
                </a:solidFill>
                <a:latin typeface="Arial"/>
              </a:rPr>
              <a:t>PACT-GP: offline search and leakage-free policy selection</a:t>
            </a:r>
          </a:p>
        </p:txBody>
      </p:sp>
      <p:sp>
        <p:nvSpPr>
          <p:cNvPr id="4" name="gp_search:003:text"/>
          <p:cNvSpPr txBox="1"/>
          <p:nvPr/>
        </p:nvSpPr>
        <p:spPr>
          <a:xfrm>
            <a:off x="457200" y="877824"/>
            <a:ext cx="13716000" cy="51206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36477"/>
                </a:solidFill>
                <a:latin typeface="Arial"/>
              </a:rPr>
              <a:t>The genotype is a three-tree individual. The entire fixed online protocol is executed inside every seeded training episode.</a:t>
            </a:r>
          </a:p>
        </p:txBody>
      </p:sp>
      <p:cxnSp>
        <p:nvCxnSpPr>
          <p:cNvPr id="5" name="gp_search:004:line"/>
          <p:cNvCxnSpPr/>
          <p:nvPr/>
        </p:nvCxnSpPr>
        <p:spPr>
          <a:xfrm>
            <a:off x="457200" y="1444752"/>
            <a:ext cx="13716000" cy="0"/>
          </a:xfrm>
          <a:prstGeom prst="line">
            <a:avLst/>
          </a:prstGeom>
          <a:ln w="12700">
            <a:solidFill>
              <a:srgbClr val="D8E0E8"/>
            </a:solidFill>
            <a:headEnd type="none" w="sm" len="sm"/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gp_search:005:round"/>
          <p:cNvSpPr/>
          <p:nvPr/>
        </p:nvSpPr>
        <p:spPr>
          <a:xfrm>
            <a:off x="548640" y="1792224"/>
            <a:ext cx="3840480" cy="804672"/>
          </a:xfrm>
          <a:prstGeom prst="roundRect">
            <a:avLst>
              <a:gd name="adj" fmla="val 9000"/>
            </a:avLst>
          </a:prstGeom>
          <a:solidFill>
            <a:srgbClr val="FFF3E7"/>
          </a:solidFill>
          <a:ln w="12700">
            <a:solidFill>
              <a:srgbClr val="C87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03047"/>
                </a:solidFill>
                <a:latin typeface="Arial"/>
              </a:rPr>
              <a:t>Initialize population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03047"/>
                </a:solidFill>
                <a:latin typeface="Arial"/>
              </a:rPr>
              <a:t>g = (T_order, T_request, T_offer)</a:t>
            </a:r>
          </a:p>
        </p:txBody>
      </p:sp>
      <p:sp>
        <p:nvSpPr>
          <p:cNvPr id="7" name="gp_search:006:round"/>
          <p:cNvSpPr/>
          <p:nvPr/>
        </p:nvSpPr>
        <p:spPr>
          <a:xfrm>
            <a:off x="548640" y="2935224"/>
            <a:ext cx="3840480" cy="905256"/>
          </a:xfrm>
          <a:prstGeom prst="roundRect">
            <a:avLst>
              <a:gd name="adj" fmla="val 9000"/>
            </a:avLst>
          </a:prstGeom>
          <a:solidFill>
            <a:srgbClr val="FFF3E7"/>
          </a:solidFill>
          <a:ln w="12700">
            <a:solidFill>
              <a:srgbClr val="C87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3047"/>
                </a:solidFill>
                <a:latin typeface="Arial"/>
              </a:rPr>
              <a:t>Common seeded episodes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3047"/>
                </a:solidFill>
                <a:latin typeface="Arial"/>
              </a:rPr>
              <a:t>Shared scenario / demand seeds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3047"/>
                </a:solidFill>
                <a:latin typeface="Arial"/>
              </a:rPr>
              <a:t>All local agents + fixed protocol</a:t>
            </a:r>
          </a:p>
        </p:txBody>
      </p:sp>
      <p:cxnSp>
        <p:nvCxnSpPr>
          <p:cNvPr id="8" name="gp_search:007:line"/>
          <p:cNvCxnSpPr/>
          <p:nvPr/>
        </p:nvCxnSpPr>
        <p:spPr>
          <a:xfrm>
            <a:off x="2468880" y="2596896"/>
            <a:ext cx="0" cy="338328"/>
          </a:xfrm>
          <a:prstGeom prst="line">
            <a:avLst/>
          </a:prstGeom>
          <a:ln w="21590">
            <a:solidFill>
              <a:srgbClr val="C87524"/>
            </a:solidFill>
            <a:headEnd type="non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gp_search:008:round"/>
          <p:cNvSpPr/>
          <p:nvPr/>
        </p:nvSpPr>
        <p:spPr>
          <a:xfrm>
            <a:off x="548640" y="4178808"/>
            <a:ext cx="3840480" cy="950976"/>
          </a:xfrm>
          <a:prstGeom prst="roundRect">
            <a:avLst>
              <a:gd name="adj" fmla="val 9000"/>
            </a:avLst>
          </a:prstGeom>
          <a:solidFill>
            <a:srgbClr val="FFF3E7"/>
          </a:solidFill>
          <a:ln w="12700">
            <a:solidFill>
              <a:srgbClr val="C87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03047"/>
                </a:solidFill>
                <a:latin typeface="Arial"/>
              </a:rPr>
              <a:t>Site service constraints first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03047"/>
                </a:solidFill>
                <a:latin typeface="Arial"/>
              </a:rPr>
              <a:t>Cost ranks admissible policies</a:t>
            </a:r>
          </a:p>
        </p:txBody>
      </p:sp>
      <p:cxnSp>
        <p:nvCxnSpPr>
          <p:cNvPr id="10" name="gp_search:009:line"/>
          <p:cNvCxnSpPr/>
          <p:nvPr/>
        </p:nvCxnSpPr>
        <p:spPr>
          <a:xfrm>
            <a:off x="2468880" y="3840480"/>
            <a:ext cx="0" cy="338328"/>
          </a:xfrm>
          <a:prstGeom prst="line">
            <a:avLst/>
          </a:prstGeom>
          <a:ln w="21590">
            <a:solidFill>
              <a:srgbClr val="C87524"/>
            </a:solidFill>
            <a:headEnd type="non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gp_search:010:round"/>
          <p:cNvSpPr/>
          <p:nvPr/>
        </p:nvSpPr>
        <p:spPr>
          <a:xfrm>
            <a:off x="548640" y="5751576"/>
            <a:ext cx="3840480" cy="94183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C87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03047"/>
                </a:solidFill>
                <a:latin typeface="Arial"/>
              </a:rPr>
              <a:t>Stop criterion met?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03047"/>
                </a:solidFill>
                <a:latin typeface="Arial"/>
              </a:rPr>
              <a:t>Generation / evaluation budget</a:t>
            </a:r>
          </a:p>
        </p:txBody>
      </p:sp>
      <p:cxnSp>
        <p:nvCxnSpPr>
          <p:cNvPr id="12" name="gp_search:011:line"/>
          <p:cNvCxnSpPr/>
          <p:nvPr/>
        </p:nvCxnSpPr>
        <p:spPr>
          <a:xfrm>
            <a:off x="2468880" y="5129784"/>
            <a:ext cx="0" cy="621792"/>
          </a:xfrm>
          <a:prstGeom prst="line">
            <a:avLst/>
          </a:prstGeom>
          <a:ln w="21590">
            <a:solidFill>
              <a:srgbClr val="C87524"/>
            </a:solidFill>
            <a:headEnd type="non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gp_search:012:round"/>
          <p:cNvSpPr/>
          <p:nvPr/>
        </p:nvSpPr>
        <p:spPr>
          <a:xfrm>
            <a:off x="5760720" y="4233672"/>
            <a:ext cx="3246120" cy="868680"/>
          </a:xfrm>
          <a:prstGeom prst="roundRect">
            <a:avLst>
              <a:gd name="adj" fmla="val 9000"/>
            </a:avLst>
          </a:prstGeom>
          <a:solidFill>
            <a:srgbClr val="FFF3E7"/>
          </a:solidFill>
          <a:ln w="12700">
            <a:solidFill>
              <a:srgbClr val="C87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03047"/>
                </a:solidFill>
                <a:latin typeface="Arial"/>
              </a:rPr>
              <a:t>Selection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03047"/>
                </a:solidFill>
                <a:latin typeface="Arial"/>
              </a:rPr>
              <a:t>Choose parent individuals</a:t>
            </a:r>
          </a:p>
        </p:txBody>
      </p:sp>
      <p:sp>
        <p:nvSpPr>
          <p:cNvPr id="14" name="gp_search:013:round"/>
          <p:cNvSpPr/>
          <p:nvPr/>
        </p:nvSpPr>
        <p:spPr>
          <a:xfrm>
            <a:off x="10104120" y="4233672"/>
            <a:ext cx="3977639" cy="868680"/>
          </a:xfrm>
          <a:prstGeom prst="roundRect">
            <a:avLst>
              <a:gd name="adj" fmla="val 9000"/>
            </a:avLst>
          </a:prstGeom>
          <a:solidFill>
            <a:srgbClr val="FFF3E7"/>
          </a:solidFill>
          <a:ln w="12700">
            <a:solidFill>
              <a:srgbClr val="C87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 tIns="54864" bIns="54864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03047"/>
                </a:solidFill>
                <a:latin typeface="Arial"/>
              </a:rPr>
              <a:t>Same-role crossover / mutation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03047"/>
                </a:solidFill>
                <a:latin typeface="Arial"/>
              </a:rPr>
              <a:t>Order × order; request × request;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03047"/>
                </a:solidFill>
                <a:latin typeface="Arial"/>
              </a:rPr>
              <a:t>offer × offer</a:t>
            </a:r>
          </a:p>
        </p:txBody>
      </p:sp>
      <p:cxnSp>
        <p:nvCxnSpPr>
          <p:cNvPr id="15" name="gp_search:014:line"/>
          <p:cNvCxnSpPr/>
          <p:nvPr/>
        </p:nvCxnSpPr>
        <p:spPr>
          <a:xfrm>
            <a:off x="9006840" y="4663440"/>
            <a:ext cx="1097280" cy="0"/>
          </a:xfrm>
          <a:prstGeom prst="line">
            <a:avLst/>
          </a:prstGeom>
          <a:ln w="21590">
            <a:solidFill>
              <a:srgbClr val="C87524"/>
            </a:solidFill>
            <a:headEnd type="non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gp_search:015:round"/>
          <p:cNvSpPr/>
          <p:nvPr/>
        </p:nvSpPr>
        <p:spPr>
          <a:xfrm>
            <a:off x="10104120" y="2496312"/>
            <a:ext cx="3977639" cy="941832"/>
          </a:xfrm>
          <a:prstGeom prst="roundRect">
            <a:avLst>
              <a:gd name="adj" fmla="val 9000"/>
            </a:avLst>
          </a:prstGeom>
          <a:solidFill>
            <a:srgbClr val="FFF3E7"/>
          </a:solidFill>
          <a:ln w="12700">
            <a:solidFill>
              <a:srgbClr val="C87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03047"/>
                </a:solidFill>
                <a:latin typeface="Arial"/>
              </a:rPr>
              <a:t>Enforce structural limits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03047"/>
                </a:solidFill>
                <a:latin typeface="Arial"/>
              </a:rPr>
              <a:t>Tree depth / size; valid primitives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03047"/>
                </a:solidFill>
                <a:latin typeface="Arial"/>
              </a:rPr>
              <a:t>Repair or reject invalid offspring</a:t>
            </a:r>
          </a:p>
        </p:txBody>
      </p:sp>
      <p:cxnSp>
        <p:nvCxnSpPr>
          <p:cNvPr id="17" name="gp_search:016:line"/>
          <p:cNvCxnSpPr/>
          <p:nvPr/>
        </p:nvCxnSpPr>
        <p:spPr>
          <a:xfrm flipV="1">
            <a:off x="12097512" y="3438144"/>
            <a:ext cx="0" cy="795528"/>
          </a:xfrm>
          <a:prstGeom prst="line">
            <a:avLst/>
          </a:prstGeom>
          <a:ln w="21590">
            <a:solidFill>
              <a:srgbClr val="C87524"/>
            </a:solidFill>
            <a:headEnd type="non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gp_search:017:line"/>
          <p:cNvCxnSpPr/>
          <p:nvPr/>
        </p:nvCxnSpPr>
        <p:spPr>
          <a:xfrm flipH="1">
            <a:off x="9491472" y="2971800"/>
            <a:ext cx="612648" cy="0"/>
          </a:xfrm>
          <a:prstGeom prst="line">
            <a:avLst/>
          </a:prstGeom>
          <a:ln w="21590">
            <a:solidFill>
              <a:srgbClr val="C87524"/>
            </a:solidFill>
            <a:headEnd type="none" w="sm" len="sm"/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gp_search:018:line"/>
          <p:cNvCxnSpPr/>
          <p:nvPr/>
        </p:nvCxnSpPr>
        <p:spPr>
          <a:xfrm>
            <a:off x="9491472" y="2971800"/>
            <a:ext cx="0" cy="411480"/>
          </a:xfrm>
          <a:prstGeom prst="line">
            <a:avLst/>
          </a:prstGeom>
          <a:ln w="21590">
            <a:solidFill>
              <a:srgbClr val="C87524"/>
            </a:solidFill>
            <a:headEnd type="none" w="sm" len="sm"/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gp_search:019:line"/>
          <p:cNvCxnSpPr/>
          <p:nvPr/>
        </p:nvCxnSpPr>
        <p:spPr>
          <a:xfrm flipH="1">
            <a:off x="4389120" y="3383280"/>
            <a:ext cx="5102352" cy="0"/>
          </a:xfrm>
          <a:prstGeom prst="line">
            <a:avLst/>
          </a:prstGeom>
          <a:ln w="21590">
            <a:solidFill>
              <a:srgbClr val="C87524"/>
            </a:solidFill>
            <a:headEnd type="non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gp_search:020:text"/>
          <p:cNvSpPr txBox="1"/>
          <p:nvPr/>
        </p:nvSpPr>
        <p:spPr>
          <a:xfrm>
            <a:off x="5495544" y="3502152"/>
            <a:ext cx="3566160" cy="32918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C87524"/>
                </a:solidFill>
                <a:latin typeface="Arial"/>
              </a:rPr>
              <a:t>Reevaluate on common seeds</a:t>
            </a:r>
          </a:p>
        </p:txBody>
      </p:sp>
      <p:cxnSp>
        <p:nvCxnSpPr>
          <p:cNvPr id="22" name="gp_search:021:line"/>
          <p:cNvCxnSpPr/>
          <p:nvPr/>
        </p:nvCxnSpPr>
        <p:spPr>
          <a:xfrm flipV="1">
            <a:off x="3520440" y="5431536"/>
            <a:ext cx="0" cy="320040"/>
          </a:xfrm>
          <a:prstGeom prst="line">
            <a:avLst/>
          </a:prstGeom>
          <a:ln w="21590">
            <a:solidFill>
              <a:srgbClr val="C87524"/>
            </a:solidFill>
            <a:headEnd type="none" w="sm" len="sm"/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gp_search:022:line"/>
          <p:cNvCxnSpPr/>
          <p:nvPr/>
        </p:nvCxnSpPr>
        <p:spPr>
          <a:xfrm>
            <a:off x="3520440" y="5431536"/>
            <a:ext cx="3867912" cy="0"/>
          </a:xfrm>
          <a:prstGeom prst="line">
            <a:avLst/>
          </a:prstGeom>
          <a:ln w="21590">
            <a:solidFill>
              <a:srgbClr val="C87524"/>
            </a:solidFill>
            <a:headEnd type="none" w="sm" len="sm"/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gp_search:023:line"/>
          <p:cNvCxnSpPr/>
          <p:nvPr/>
        </p:nvCxnSpPr>
        <p:spPr>
          <a:xfrm flipV="1">
            <a:off x="7388352" y="5102352"/>
            <a:ext cx="0" cy="329184"/>
          </a:xfrm>
          <a:prstGeom prst="line">
            <a:avLst/>
          </a:prstGeom>
          <a:ln w="21590">
            <a:solidFill>
              <a:srgbClr val="C87524"/>
            </a:solidFill>
            <a:headEnd type="non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gp_search:024:text"/>
          <p:cNvSpPr txBox="1"/>
          <p:nvPr/>
        </p:nvSpPr>
        <p:spPr>
          <a:xfrm>
            <a:off x="4489704" y="5431536"/>
            <a:ext cx="1024128" cy="32918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C87524"/>
                </a:solidFill>
                <a:latin typeface="Arial"/>
              </a:rPr>
              <a:t>No</a:t>
            </a:r>
          </a:p>
        </p:txBody>
      </p:sp>
      <p:sp>
        <p:nvSpPr>
          <p:cNvPr id="26" name="gp_search:025:round"/>
          <p:cNvSpPr/>
          <p:nvPr/>
        </p:nvSpPr>
        <p:spPr>
          <a:xfrm>
            <a:off x="5760720" y="5751576"/>
            <a:ext cx="3246120" cy="941832"/>
          </a:xfrm>
          <a:prstGeom prst="roundRect">
            <a:avLst>
              <a:gd name="adj" fmla="val 9000"/>
            </a:avLst>
          </a:prstGeom>
          <a:solidFill>
            <a:srgbClr val="EDF5FC"/>
          </a:solidFill>
          <a:ln w="12700">
            <a:solidFill>
              <a:srgbClr val="2369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03047"/>
                </a:solidFill>
                <a:latin typeface="Arial"/>
              </a:rPr>
              <a:t>Validation select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03047"/>
                </a:solidFill>
                <a:latin typeface="Arial"/>
              </a:rPr>
              <a:t>Select g on held-out data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03047"/>
                </a:solidFill>
                <a:latin typeface="Arial"/>
              </a:rPr>
              <a:t>Freeze all three trees</a:t>
            </a:r>
          </a:p>
        </p:txBody>
      </p:sp>
      <p:cxnSp>
        <p:nvCxnSpPr>
          <p:cNvPr id="27" name="gp_search:026:line"/>
          <p:cNvCxnSpPr/>
          <p:nvPr/>
        </p:nvCxnSpPr>
        <p:spPr>
          <a:xfrm>
            <a:off x="4389120" y="6217920"/>
            <a:ext cx="1371600" cy="0"/>
          </a:xfrm>
          <a:prstGeom prst="line">
            <a:avLst/>
          </a:prstGeom>
          <a:ln w="21590">
            <a:solidFill>
              <a:srgbClr val="2369A4"/>
            </a:solidFill>
            <a:headEnd type="non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gp_search:027:text"/>
          <p:cNvSpPr txBox="1"/>
          <p:nvPr/>
        </p:nvSpPr>
        <p:spPr>
          <a:xfrm>
            <a:off x="4608576" y="5792724"/>
            <a:ext cx="850392" cy="32918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369A4"/>
                </a:solidFill>
                <a:latin typeface="Arial"/>
              </a:rPr>
              <a:t>Yes</a:t>
            </a:r>
          </a:p>
        </p:txBody>
      </p:sp>
      <p:sp>
        <p:nvSpPr>
          <p:cNvPr id="29" name="gp_search:028:round"/>
          <p:cNvSpPr/>
          <p:nvPr/>
        </p:nvSpPr>
        <p:spPr>
          <a:xfrm>
            <a:off x="10104120" y="5751576"/>
            <a:ext cx="3977639" cy="941832"/>
          </a:xfrm>
          <a:prstGeom prst="roundRect">
            <a:avLst>
              <a:gd name="adj" fmla="val 9000"/>
            </a:avLst>
          </a:prstGeom>
          <a:solidFill>
            <a:srgbClr val="EDF5FC"/>
          </a:solidFill>
          <a:ln w="12700">
            <a:solidFill>
              <a:srgbClr val="2369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03047"/>
                </a:solidFill>
                <a:latin typeface="Arial"/>
              </a:rPr>
              <a:t>Frozen test → deploy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03047"/>
                </a:solidFill>
                <a:latin typeface="Arial"/>
              </a:rPr>
              <a:t>Report unseen test performance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03047"/>
                </a:solidFill>
                <a:latin typeface="Arial"/>
              </a:rPr>
              <a:t>No tuning on test episodes</a:t>
            </a:r>
          </a:p>
        </p:txBody>
      </p:sp>
      <p:cxnSp>
        <p:nvCxnSpPr>
          <p:cNvPr id="30" name="gp_search:029:line"/>
          <p:cNvCxnSpPr/>
          <p:nvPr/>
        </p:nvCxnSpPr>
        <p:spPr>
          <a:xfrm>
            <a:off x="9006840" y="6217920"/>
            <a:ext cx="1097280" cy="0"/>
          </a:xfrm>
          <a:prstGeom prst="line">
            <a:avLst/>
          </a:prstGeom>
          <a:ln w="21590">
            <a:solidFill>
              <a:srgbClr val="2369A4"/>
            </a:solidFill>
            <a:headEnd type="non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gp_search:030:text"/>
          <p:cNvSpPr txBox="1"/>
          <p:nvPr/>
        </p:nvSpPr>
        <p:spPr>
          <a:xfrm>
            <a:off x="5632704" y="1762506"/>
            <a:ext cx="3822191" cy="91897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36477"/>
                </a:solidFill>
                <a:latin typeface="Arial"/>
              </a:rPr>
              <a:t>Study budget: P &gt;= 200; G &gt;= 50.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36477"/>
                </a:solidFill>
                <a:latin typeface="Arial"/>
              </a:rPr>
              <a:t>Disjoint train / validation / test.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36477"/>
                </a:solidFill>
                <a:latin typeface="Arial"/>
              </a:rPr>
              <a:t>No LLM in either phase.</a:t>
            </a:r>
          </a:p>
        </p:txBody>
      </p:sp>
      <p:sp>
        <p:nvSpPr>
          <p:cNvPr id="32" name="gp_search:031:round"/>
          <p:cNvSpPr/>
          <p:nvPr/>
        </p:nvSpPr>
        <p:spPr>
          <a:xfrm>
            <a:off x="548640" y="7095744"/>
            <a:ext cx="13533120" cy="448056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36477"/>
                </a:solidFill>
                <a:latin typeface="Arial"/>
              </a:rPr>
              <a:t>Only the three GP trees evolve; roles, bounds, gain evaluation, matching, reservations and physical execution stay fixed.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 name="gp_individual">
    <p:spTree>
      <p:nvGrpSpPr>
        <p:cNvPr id="1" name=""/>
        <p:cNvGrpSpPr/>
        <p:nvPr/>
      </p:nvGrpSpPr>
      <p:grpSpPr/>
      <p:sp>
        <p:nvSpPr>
          <p:cNvPr id="2" name="gp_individual:001:rect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gp_individual:002:text"/>
          <p:cNvSpPr txBox="1"/>
          <p:nvPr/>
        </p:nvSpPr>
        <p:spPr>
          <a:xfrm>
            <a:off x="457200" y="281813"/>
            <a:ext cx="13350240" cy="50622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203047"/>
                </a:solidFill>
                <a:latin typeface="Arial"/>
              </a:rPr>
              <a:t>A GP individual contains three role-specific trees</a:t>
            </a:r>
          </a:p>
        </p:txBody>
      </p:sp>
      <p:sp>
        <p:nvSpPr>
          <p:cNvPr id="4" name="gp_individual:003:text"/>
          <p:cNvSpPr txBox="1"/>
          <p:nvPr/>
        </p:nvSpPr>
        <p:spPr>
          <a:xfrm>
            <a:off x="457200" y="877824"/>
            <a:ext cx="13716000" cy="51206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36477"/>
                </a:solidFill>
                <a:latin typeface="Arial"/>
              </a:rPr>
              <a:t>Illustrative valid expressions, not initialized seed or trained optimum. All nodes and edges are editable.</a:t>
            </a:r>
          </a:p>
        </p:txBody>
      </p:sp>
      <p:cxnSp>
        <p:nvCxnSpPr>
          <p:cNvPr id="5" name="gp_individual:004:line"/>
          <p:cNvCxnSpPr/>
          <p:nvPr/>
        </p:nvCxnSpPr>
        <p:spPr>
          <a:xfrm>
            <a:off x="457200" y="1444752"/>
            <a:ext cx="13716000" cy="0"/>
          </a:xfrm>
          <a:prstGeom prst="line">
            <a:avLst/>
          </a:prstGeom>
          <a:ln w="12700">
            <a:solidFill>
              <a:srgbClr val="D8E0E8"/>
            </a:solidFill>
            <a:headEnd type="none" w="sm" len="sm"/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gp_individual:005:round"/>
          <p:cNvSpPr/>
          <p:nvPr/>
        </p:nvSpPr>
        <p:spPr>
          <a:xfrm>
            <a:off x="457200" y="1746504"/>
            <a:ext cx="4297680" cy="5870448"/>
          </a:xfrm>
          <a:prstGeom prst="roundRect">
            <a:avLst>
              <a:gd name="adj" fmla="val 9000"/>
            </a:avLst>
          </a:prstGeom>
          <a:solidFill>
            <a:srgbClr val="FFF3E7"/>
          </a:solidFill>
          <a:ln w="12700">
            <a:solidFill>
              <a:srgbClr val="C87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gp_individual:006:text"/>
          <p:cNvSpPr txBox="1"/>
          <p:nvPr/>
        </p:nvSpPr>
        <p:spPr>
          <a:xfrm>
            <a:off x="603504" y="1885823"/>
            <a:ext cx="4005072" cy="40716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C87524"/>
                </a:solidFill>
                <a:latin typeface="Arial"/>
              </a:rPr>
              <a:t>T_order</a:t>
            </a:r>
          </a:p>
        </p:txBody>
      </p:sp>
      <p:sp>
        <p:nvSpPr>
          <p:cNvPr id="8" name="gp_individual:007:text"/>
          <p:cNvSpPr txBox="1"/>
          <p:nvPr/>
        </p:nvSpPr>
        <p:spPr>
          <a:xfrm>
            <a:off x="548640" y="2363724"/>
            <a:ext cx="4114800" cy="32918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03047"/>
                </a:solidFill>
                <a:latin typeface="Arial"/>
              </a:rPr>
              <a:t>max(0, F1 + F2 − I − P)</a:t>
            </a:r>
          </a:p>
        </p:txBody>
      </p:sp>
      <p:cxnSp>
        <p:nvCxnSpPr>
          <p:cNvPr id="9" name="gp_individual:008:line"/>
          <p:cNvCxnSpPr/>
          <p:nvPr/>
        </p:nvCxnSpPr>
        <p:spPr>
          <a:xfrm flipH="1">
            <a:off x="1422816" y="3360820"/>
            <a:ext cx="654878" cy="443302"/>
          </a:xfrm>
          <a:prstGeom prst="line">
            <a:avLst/>
          </a:prstGeom>
          <a:ln w="21590">
            <a:solidFill>
              <a:srgbClr val="C87524"/>
            </a:solidFill>
            <a:headEnd type="none" w="sm" len="sm"/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gp_individual:009:line"/>
          <p:cNvCxnSpPr/>
          <p:nvPr/>
        </p:nvCxnSpPr>
        <p:spPr>
          <a:xfrm>
            <a:off x="2623903" y="3454451"/>
            <a:ext cx="211351" cy="286135"/>
          </a:xfrm>
          <a:prstGeom prst="line">
            <a:avLst/>
          </a:prstGeom>
          <a:ln w="21590">
            <a:solidFill>
              <a:srgbClr val="C87524"/>
            </a:solidFill>
            <a:headEnd type="none" w="sm" len="sm"/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gp_individual:010:line"/>
          <p:cNvCxnSpPr/>
          <p:nvPr/>
        </p:nvCxnSpPr>
        <p:spPr>
          <a:xfrm flipH="1">
            <a:off x="2588255" y="4165526"/>
            <a:ext cx="255025" cy="374035"/>
          </a:xfrm>
          <a:prstGeom prst="line">
            <a:avLst/>
          </a:prstGeom>
          <a:ln w="21590">
            <a:solidFill>
              <a:srgbClr val="C87524"/>
            </a:solidFill>
            <a:headEnd type="none" w="sm" len="sm"/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gp_individual:011:line"/>
          <p:cNvCxnSpPr/>
          <p:nvPr/>
        </p:nvCxnSpPr>
        <p:spPr>
          <a:xfrm>
            <a:off x="3176421" y="4132400"/>
            <a:ext cx="450293" cy="440287"/>
          </a:xfrm>
          <a:prstGeom prst="line">
            <a:avLst/>
          </a:prstGeom>
          <a:ln w="21590">
            <a:solidFill>
              <a:srgbClr val="C87524"/>
            </a:solidFill>
            <a:headEnd type="none" w="sm" len="sm"/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gp_individual:012:line"/>
          <p:cNvCxnSpPr/>
          <p:nvPr/>
        </p:nvCxnSpPr>
        <p:spPr>
          <a:xfrm flipH="1">
            <a:off x="1963600" y="4958828"/>
            <a:ext cx="315615" cy="396775"/>
          </a:xfrm>
          <a:prstGeom prst="line">
            <a:avLst/>
          </a:prstGeom>
          <a:ln w="21590">
            <a:solidFill>
              <a:srgbClr val="C87524"/>
            </a:solidFill>
            <a:headEnd type="none" w="sm" len="sm"/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gp_individual:013:line"/>
          <p:cNvCxnSpPr/>
          <p:nvPr/>
        </p:nvCxnSpPr>
        <p:spPr>
          <a:xfrm>
            <a:off x="2607833" y="4955454"/>
            <a:ext cx="334741" cy="403523"/>
          </a:xfrm>
          <a:prstGeom prst="line">
            <a:avLst/>
          </a:prstGeom>
          <a:ln w="21590">
            <a:solidFill>
              <a:srgbClr val="C87524"/>
            </a:solidFill>
            <a:headEnd type="none" w="sm" len="sm"/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gp_individual:014:line"/>
          <p:cNvCxnSpPr/>
          <p:nvPr/>
        </p:nvCxnSpPr>
        <p:spPr>
          <a:xfrm flipH="1">
            <a:off x="1323520" y="5763500"/>
            <a:ext cx="315615" cy="396775"/>
          </a:xfrm>
          <a:prstGeom prst="line">
            <a:avLst/>
          </a:prstGeom>
          <a:ln w="21590">
            <a:solidFill>
              <a:srgbClr val="C87524"/>
            </a:solidFill>
            <a:headEnd type="none" w="sm" len="sm"/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gp_individual:015:line"/>
          <p:cNvCxnSpPr/>
          <p:nvPr/>
        </p:nvCxnSpPr>
        <p:spPr>
          <a:xfrm>
            <a:off x="1960713" y="5765764"/>
            <a:ext cx="303101" cy="392247"/>
          </a:xfrm>
          <a:prstGeom prst="line">
            <a:avLst/>
          </a:prstGeom>
          <a:ln w="21590">
            <a:solidFill>
              <a:srgbClr val="C87524"/>
            </a:solidFill>
            <a:headEnd type="none" w="sm" len="sm"/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gp_individual:016:tree:T_order:max"/>
          <p:cNvSpPr/>
          <p:nvPr/>
        </p:nvSpPr>
        <p:spPr>
          <a:xfrm>
            <a:off x="2011680" y="2761488"/>
            <a:ext cx="768096" cy="7680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87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" rIns="13716" tIns="13716" bIns="13716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C87524"/>
                </a:solidFill>
                <a:latin typeface="Arial"/>
              </a:rPr>
              <a:t>max</a:t>
            </a:r>
          </a:p>
        </p:txBody>
      </p:sp>
      <p:sp>
        <p:nvSpPr>
          <p:cNvPr id="18" name="gp_individual:017:tree:T_order:0"/>
          <p:cNvSpPr/>
          <p:nvPr/>
        </p:nvSpPr>
        <p:spPr>
          <a:xfrm>
            <a:off x="946404" y="3689604"/>
            <a:ext cx="521207" cy="52120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87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" rIns="13716" tIns="13716" bIns="13716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C87524"/>
                </a:solidFill>
                <a:latin typeface="Arial"/>
              </a:rPr>
              <a:t>0</a:t>
            </a:r>
          </a:p>
        </p:txBody>
      </p:sp>
      <p:sp>
        <p:nvSpPr>
          <p:cNvPr id="19" name="gp_individual:018:tree:T_order:−"/>
          <p:cNvSpPr/>
          <p:nvPr/>
        </p:nvSpPr>
        <p:spPr>
          <a:xfrm>
            <a:off x="2729484" y="3689604"/>
            <a:ext cx="521207" cy="52120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87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" rIns="13716" tIns="13716" bIns="13716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C87524"/>
                </a:solidFill>
                <a:latin typeface="Arial"/>
              </a:rPr>
              <a:t>−</a:t>
            </a:r>
          </a:p>
        </p:txBody>
      </p:sp>
      <p:sp>
        <p:nvSpPr>
          <p:cNvPr id="20" name="gp_individual:019:tree:T_order:−"/>
          <p:cNvSpPr/>
          <p:nvPr/>
        </p:nvSpPr>
        <p:spPr>
          <a:xfrm>
            <a:off x="2180844" y="4494276"/>
            <a:ext cx="521207" cy="52120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87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" rIns="13716" tIns="13716" bIns="13716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C87524"/>
                </a:solidFill>
                <a:latin typeface="Arial"/>
              </a:rPr>
              <a:t>−</a:t>
            </a:r>
          </a:p>
        </p:txBody>
      </p:sp>
      <p:sp>
        <p:nvSpPr>
          <p:cNvPr id="21" name="gp_individual:020:tree:T_order:P"/>
          <p:cNvSpPr/>
          <p:nvPr/>
        </p:nvSpPr>
        <p:spPr>
          <a:xfrm>
            <a:off x="3552444" y="4494276"/>
            <a:ext cx="521207" cy="52120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87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" rIns="13716" tIns="13716" bIns="13716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C87524"/>
                </a:solidFill>
                <a:latin typeface="Arial"/>
              </a:rPr>
              <a:t>P</a:t>
            </a:r>
          </a:p>
        </p:txBody>
      </p:sp>
      <p:sp>
        <p:nvSpPr>
          <p:cNvPr id="22" name="gp_individual:021:tree:T_order:+"/>
          <p:cNvSpPr/>
          <p:nvPr/>
        </p:nvSpPr>
        <p:spPr>
          <a:xfrm>
            <a:off x="1540764" y="5298948"/>
            <a:ext cx="521207" cy="52120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87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" rIns="13716" tIns="13716" bIns="13716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C87524"/>
                </a:solidFill>
                <a:latin typeface="Arial"/>
              </a:rPr>
              <a:t>+</a:t>
            </a:r>
          </a:p>
        </p:txBody>
      </p:sp>
      <p:sp>
        <p:nvSpPr>
          <p:cNvPr id="23" name="gp_individual:022:tree:T_order:I"/>
          <p:cNvSpPr/>
          <p:nvPr/>
        </p:nvSpPr>
        <p:spPr>
          <a:xfrm>
            <a:off x="2848356" y="5298948"/>
            <a:ext cx="521207" cy="52120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87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" rIns="13716" tIns="13716" bIns="13716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C87524"/>
                </a:solidFill>
                <a:latin typeface="Arial"/>
              </a:rPr>
              <a:t>I</a:t>
            </a:r>
          </a:p>
        </p:txBody>
      </p:sp>
      <p:sp>
        <p:nvSpPr>
          <p:cNvPr id="24" name="gp_individual:023:tree:T_order:F1"/>
          <p:cNvSpPr/>
          <p:nvPr/>
        </p:nvSpPr>
        <p:spPr>
          <a:xfrm>
            <a:off x="900684" y="6103620"/>
            <a:ext cx="521207" cy="52120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87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" rIns="13716" tIns="13716" bIns="13716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C87524"/>
                </a:solidFill>
                <a:latin typeface="Arial"/>
              </a:rPr>
              <a:t>F1</a:t>
            </a:r>
          </a:p>
        </p:txBody>
      </p:sp>
      <p:sp>
        <p:nvSpPr>
          <p:cNvPr id="25" name="gp_individual:024:tree:T_order:F2"/>
          <p:cNvSpPr/>
          <p:nvPr/>
        </p:nvSpPr>
        <p:spPr>
          <a:xfrm>
            <a:off x="2162556" y="6103620"/>
            <a:ext cx="521207" cy="52120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87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" rIns="13716" tIns="13716" bIns="13716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C87524"/>
                </a:solidFill>
                <a:latin typeface="Arial"/>
              </a:rPr>
              <a:t>F2</a:t>
            </a:r>
          </a:p>
        </p:txBody>
      </p:sp>
      <p:sp>
        <p:nvSpPr>
          <p:cNvPr id="26" name="gp_individual:025:round"/>
          <p:cNvSpPr/>
          <p:nvPr/>
        </p:nvSpPr>
        <p:spPr>
          <a:xfrm>
            <a:off x="603504" y="7004304"/>
            <a:ext cx="4005072" cy="44805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2369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369A4"/>
                </a:solidFill>
                <a:latin typeface="Arial"/>
              </a:rPr>
              <a:t>Fixed order / capacity caps</a:t>
            </a:r>
          </a:p>
        </p:txBody>
      </p:sp>
      <p:sp>
        <p:nvSpPr>
          <p:cNvPr id="27" name="gp_individual:026:round"/>
          <p:cNvSpPr/>
          <p:nvPr/>
        </p:nvSpPr>
        <p:spPr>
          <a:xfrm>
            <a:off x="5166360" y="1746504"/>
            <a:ext cx="4297680" cy="5870448"/>
          </a:xfrm>
          <a:prstGeom prst="roundRect">
            <a:avLst>
              <a:gd name="adj" fmla="val 9000"/>
            </a:avLst>
          </a:prstGeom>
          <a:solidFill>
            <a:srgbClr val="FFF3E7"/>
          </a:solidFill>
          <a:ln w="12700">
            <a:solidFill>
              <a:srgbClr val="C87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8" name="gp_individual:027:text"/>
          <p:cNvSpPr txBox="1"/>
          <p:nvPr/>
        </p:nvSpPr>
        <p:spPr>
          <a:xfrm>
            <a:off x="5312664" y="1885823"/>
            <a:ext cx="4005072" cy="40716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C87524"/>
                </a:solidFill>
                <a:latin typeface="Arial"/>
              </a:rPr>
              <a:t>T_request</a:t>
            </a:r>
          </a:p>
        </p:txBody>
      </p:sp>
      <p:sp>
        <p:nvSpPr>
          <p:cNvPr id="29" name="gp_individual:028:text"/>
          <p:cNvSpPr txBox="1"/>
          <p:nvPr/>
        </p:nvSpPr>
        <p:spPr>
          <a:xfrm>
            <a:off x="5257800" y="2363724"/>
            <a:ext cx="4114800" cy="32918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03047"/>
                </a:solidFill>
                <a:latin typeface="Arial"/>
              </a:rPr>
              <a:t>max(0, F1 + F2 − I − P)</a:t>
            </a:r>
          </a:p>
        </p:txBody>
      </p:sp>
      <p:cxnSp>
        <p:nvCxnSpPr>
          <p:cNvPr id="30" name="gp_individual:029:line"/>
          <p:cNvCxnSpPr/>
          <p:nvPr/>
        </p:nvCxnSpPr>
        <p:spPr>
          <a:xfrm flipH="1">
            <a:off x="6131976" y="3360820"/>
            <a:ext cx="654878" cy="443302"/>
          </a:xfrm>
          <a:prstGeom prst="line">
            <a:avLst/>
          </a:prstGeom>
          <a:ln w="21590">
            <a:solidFill>
              <a:srgbClr val="C87524"/>
            </a:solidFill>
            <a:headEnd type="none" w="sm" len="sm"/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gp_individual:030:line"/>
          <p:cNvCxnSpPr/>
          <p:nvPr/>
        </p:nvCxnSpPr>
        <p:spPr>
          <a:xfrm>
            <a:off x="7333063" y="3454451"/>
            <a:ext cx="211351" cy="286135"/>
          </a:xfrm>
          <a:prstGeom prst="line">
            <a:avLst/>
          </a:prstGeom>
          <a:ln w="21590">
            <a:solidFill>
              <a:srgbClr val="C87524"/>
            </a:solidFill>
            <a:headEnd type="none" w="sm" len="sm"/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gp_individual:031:line"/>
          <p:cNvCxnSpPr/>
          <p:nvPr/>
        </p:nvCxnSpPr>
        <p:spPr>
          <a:xfrm flipH="1">
            <a:off x="7297415" y="4165526"/>
            <a:ext cx="255025" cy="374035"/>
          </a:xfrm>
          <a:prstGeom prst="line">
            <a:avLst/>
          </a:prstGeom>
          <a:ln w="21590">
            <a:solidFill>
              <a:srgbClr val="C87524"/>
            </a:solidFill>
            <a:headEnd type="none" w="sm" len="sm"/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gp_individual:032:line"/>
          <p:cNvCxnSpPr/>
          <p:nvPr/>
        </p:nvCxnSpPr>
        <p:spPr>
          <a:xfrm>
            <a:off x="7885581" y="4132400"/>
            <a:ext cx="450293" cy="440287"/>
          </a:xfrm>
          <a:prstGeom prst="line">
            <a:avLst/>
          </a:prstGeom>
          <a:ln w="21590">
            <a:solidFill>
              <a:srgbClr val="C87524"/>
            </a:solidFill>
            <a:headEnd type="none" w="sm" len="sm"/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gp_individual:033:line"/>
          <p:cNvCxnSpPr/>
          <p:nvPr/>
        </p:nvCxnSpPr>
        <p:spPr>
          <a:xfrm flipH="1">
            <a:off x="6672760" y="4958828"/>
            <a:ext cx="315615" cy="396775"/>
          </a:xfrm>
          <a:prstGeom prst="line">
            <a:avLst/>
          </a:prstGeom>
          <a:ln w="21590">
            <a:solidFill>
              <a:srgbClr val="C87524"/>
            </a:solidFill>
            <a:headEnd type="none" w="sm" len="sm"/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gp_individual:034:line"/>
          <p:cNvCxnSpPr/>
          <p:nvPr/>
        </p:nvCxnSpPr>
        <p:spPr>
          <a:xfrm>
            <a:off x="7316993" y="4955454"/>
            <a:ext cx="334741" cy="403523"/>
          </a:xfrm>
          <a:prstGeom prst="line">
            <a:avLst/>
          </a:prstGeom>
          <a:ln w="21590">
            <a:solidFill>
              <a:srgbClr val="C87524"/>
            </a:solidFill>
            <a:headEnd type="none" w="sm" len="sm"/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gp_individual:035:line"/>
          <p:cNvCxnSpPr/>
          <p:nvPr/>
        </p:nvCxnSpPr>
        <p:spPr>
          <a:xfrm flipH="1">
            <a:off x="6032680" y="5763500"/>
            <a:ext cx="315615" cy="396775"/>
          </a:xfrm>
          <a:prstGeom prst="line">
            <a:avLst/>
          </a:prstGeom>
          <a:ln w="21590">
            <a:solidFill>
              <a:srgbClr val="C87524"/>
            </a:solidFill>
            <a:headEnd type="none" w="sm" len="sm"/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gp_individual:036:line"/>
          <p:cNvCxnSpPr/>
          <p:nvPr/>
        </p:nvCxnSpPr>
        <p:spPr>
          <a:xfrm>
            <a:off x="6669873" y="5765764"/>
            <a:ext cx="303101" cy="392247"/>
          </a:xfrm>
          <a:prstGeom prst="line">
            <a:avLst/>
          </a:prstGeom>
          <a:ln w="21590">
            <a:solidFill>
              <a:srgbClr val="C87524"/>
            </a:solidFill>
            <a:headEnd type="none" w="sm" len="sm"/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gp_individual:037:tree:T_request:max"/>
          <p:cNvSpPr/>
          <p:nvPr/>
        </p:nvSpPr>
        <p:spPr>
          <a:xfrm>
            <a:off x="6720840" y="2761488"/>
            <a:ext cx="768096" cy="7680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87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" rIns="13716" tIns="13716" bIns="13716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C87524"/>
                </a:solidFill>
                <a:latin typeface="Arial"/>
              </a:rPr>
              <a:t>max</a:t>
            </a:r>
          </a:p>
        </p:txBody>
      </p:sp>
      <p:sp>
        <p:nvSpPr>
          <p:cNvPr id="39" name="gp_individual:038:tree:T_request:0"/>
          <p:cNvSpPr/>
          <p:nvPr/>
        </p:nvSpPr>
        <p:spPr>
          <a:xfrm>
            <a:off x="5655564" y="3689604"/>
            <a:ext cx="521207" cy="52120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87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" rIns="13716" tIns="13716" bIns="13716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C87524"/>
                </a:solidFill>
                <a:latin typeface="Arial"/>
              </a:rPr>
              <a:t>0</a:t>
            </a:r>
          </a:p>
        </p:txBody>
      </p:sp>
      <p:sp>
        <p:nvSpPr>
          <p:cNvPr id="40" name="gp_individual:039:tree:T_request:−"/>
          <p:cNvSpPr/>
          <p:nvPr/>
        </p:nvSpPr>
        <p:spPr>
          <a:xfrm>
            <a:off x="7438644" y="3689604"/>
            <a:ext cx="521207" cy="52120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87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" rIns="13716" tIns="13716" bIns="13716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C87524"/>
                </a:solidFill>
                <a:latin typeface="Arial"/>
              </a:rPr>
              <a:t>−</a:t>
            </a:r>
          </a:p>
        </p:txBody>
      </p:sp>
      <p:sp>
        <p:nvSpPr>
          <p:cNvPr id="41" name="gp_individual:040:tree:T_request:−"/>
          <p:cNvSpPr/>
          <p:nvPr/>
        </p:nvSpPr>
        <p:spPr>
          <a:xfrm>
            <a:off x="6890004" y="4494276"/>
            <a:ext cx="521207" cy="52120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87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" rIns="13716" tIns="13716" bIns="13716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C87524"/>
                </a:solidFill>
                <a:latin typeface="Arial"/>
              </a:rPr>
              <a:t>−</a:t>
            </a:r>
          </a:p>
        </p:txBody>
      </p:sp>
      <p:sp>
        <p:nvSpPr>
          <p:cNvPr id="42" name="gp_individual:041:tree:T_request:P"/>
          <p:cNvSpPr/>
          <p:nvPr/>
        </p:nvSpPr>
        <p:spPr>
          <a:xfrm>
            <a:off x="8261604" y="4494276"/>
            <a:ext cx="521207" cy="52120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87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" rIns="13716" tIns="13716" bIns="13716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C87524"/>
                </a:solidFill>
                <a:latin typeface="Arial"/>
              </a:rPr>
              <a:t>P</a:t>
            </a:r>
          </a:p>
        </p:txBody>
      </p:sp>
      <p:sp>
        <p:nvSpPr>
          <p:cNvPr id="43" name="gp_individual:042:tree:T_request:+"/>
          <p:cNvSpPr/>
          <p:nvPr/>
        </p:nvSpPr>
        <p:spPr>
          <a:xfrm>
            <a:off x="6249924" y="5298948"/>
            <a:ext cx="521207" cy="52120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87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" rIns="13716" tIns="13716" bIns="13716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C87524"/>
                </a:solidFill>
                <a:latin typeface="Arial"/>
              </a:rPr>
              <a:t>+</a:t>
            </a:r>
          </a:p>
        </p:txBody>
      </p:sp>
      <p:sp>
        <p:nvSpPr>
          <p:cNvPr id="44" name="gp_individual:043:tree:T_request:I"/>
          <p:cNvSpPr/>
          <p:nvPr/>
        </p:nvSpPr>
        <p:spPr>
          <a:xfrm>
            <a:off x="7557516" y="5298948"/>
            <a:ext cx="521207" cy="52120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87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" rIns="13716" tIns="13716" bIns="13716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C87524"/>
                </a:solidFill>
                <a:latin typeface="Arial"/>
              </a:rPr>
              <a:t>I</a:t>
            </a:r>
          </a:p>
        </p:txBody>
      </p:sp>
      <p:sp>
        <p:nvSpPr>
          <p:cNvPr id="45" name="gp_individual:044:tree:T_request:F1"/>
          <p:cNvSpPr/>
          <p:nvPr/>
        </p:nvSpPr>
        <p:spPr>
          <a:xfrm>
            <a:off x="5609844" y="6103620"/>
            <a:ext cx="521207" cy="52120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87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" rIns="13716" tIns="13716" bIns="13716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C87524"/>
                </a:solidFill>
                <a:latin typeface="Arial"/>
              </a:rPr>
              <a:t>F1</a:t>
            </a:r>
          </a:p>
        </p:txBody>
      </p:sp>
      <p:sp>
        <p:nvSpPr>
          <p:cNvPr id="46" name="gp_individual:045:tree:T_request:F2"/>
          <p:cNvSpPr/>
          <p:nvPr/>
        </p:nvSpPr>
        <p:spPr>
          <a:xfrm>
            <a:off x="6871716" y="6103620"/>
            <a:ext cx="521207" cy="52120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87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" rIns="13716" tIns="13716" bIns="13716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C87524"/>
                </a:solidFill>
                <a:latin typeface="Arial"/>
              </a:rPr>
              <a:t>F2</a:t>
            </a:r>
          </a:p>
        </p:txBody>
      </p:sp>
      <p:sp>
        <p:nvSpPr>
          <p:cNvPr id="47" name="gp_individual:046:round"/>
          <p:cNvSpPr/>
          <p:nvPr/>
        </p:nvSpPr>
        <p:spPr>
          <a:xfrm>
            <a:off x="5312664" y="7004304"/>
            <a:ext cx="4005072" cy="44805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2369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369A4"/>
                </a:solidFill>
                <a:latin typeface="Arial"/>
              </a:rPr>
              <a:t>Fixed receiver / request cap</a:t>
            </a:r>
          </a:p>
        </p:txBody>
      </p:sp>
      <p:sp>
        <p:nvSpPr>
          <p:cNvPr id="48" name="gp_individual:047:round"/>
          <p:cNvSpPr/>
          <p:nvPr/>
        </p:nvSpPr>
        <p:spPr>
          <a:xfrm>
            <a:off x="9875520" y="1746504"/>
            <a:ext cx="4297680" cy="5870448"/>
          </a:xfrm>
          <a:prstGeom prst="roundRect">
            <a:avLst>
              <a:gd name="adj" fmla="val 9000"/>
            </a:avLst>
          </a:prstGeom>
          <a:solidFill>
            <a:srgbClr val="FFF3E7"/>
          </a:solidFill>
          <a:ln w="12700">
            <a:solidFill>
              <a:srgbClr val="C87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49" name="gp_individual:048:text"/>
          <p:cNvSpPr txBox="1"/>
          <p:nvPr/>
        </p:nvSpPr>
        <p:spPr>
          <a:xfrm>
            <a:off x="10021824" y="1885823"/>
            <a:ext cx="4005072" cy="40716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C87524"/>
                </a:solidFill>
                <a:latin typeface="Arial"/>
              </a:rPr>
              <a:t>T_offer</a:t>
            </a:r>
          </a:p>
        </p:txBody>
      </p:sp>
      <p:sp>
        <p:nvSpPr>
          <p:cNvPr id="50" name="gp_individual:049:text"/>
          <p:cNvSpPr txBox="1"/>
          <p:nvPr/>
        </p:nvSpPr>
        <p:spPr>
          <a:xfrm>
            <a:off x="9966960" y="2363724"/>
            <a:ext cx="4114800" cy="32918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03047"/>
                </a:solidFill>
                <a:latin typeface="Arial"/>
              </a:rPr>
              <a:t>max(0, I − F1 − F2)</a:t>
            </a:r>
          </a:p>
        </p:txBody>
      </p:sp>
      <p:cxnSp>
        <p:nvCxnSpPr>
          <p:cNvPr id="51" name="gp_individual:050:line"/>
          <p:cNvCxnSpPr/>
          <p:nvPr/>
        </p:nvCxnSpPr>
        <p:spPr>
          <a:xfrm flipH="1">
            <a:off x="10841136" y="3360820"/>
            <a:ext cx="654878" cy="443302"/>
          </a:xfrm>
          <a:prstGeom prst="line">
            <a:avLst/>
          </a:prstGeom>
          <a:ln w="21590">
            <a:solidFill>
              <a:srgbClr val="C87524"/>
            </a:solidFill>
            <a:headEnd type="none" w="sm" len="sm"/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2" name="gp_individual:051:line"/>
          <p:cNvCxnSpPr/>
          <p:nvPr/>
        </p:nvCxnSpPr>
        <p:spPr>
          <a:xfrm>
            <a:off x="12042223" y="3454451"/>
            <a:ext cx="211351" cy="286135"/>
          </a:xfrm>
          <a:prstGeom prst="line">
            <a:avLst/>
          </a:prstGeom>
          <a:ln w="21590">
            <a:solidFill>
              <a:srgbClr val="C87524"/>
            </a:solidFill>
            <a:headEnd type="none" w="sm" len="sm"/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gp_individual:052:line"/>
          <p:cNvCxnSpPr/>
          <p:nvPr/>
        </p:nvCxnSpPr>
        <p:spPr>
          <a:xfrm flipH="1">
            <a:off x="12006575" y="4165526"/>
            <a:ext cx="255025" cy="374035"/>
          </a:xfrm>
          <a:prstGeom prst="line">
            <a:avLst/>
          </a:prstGeom>
          <a:ln w="21590">
            <a:solidFill>
              <a:srgbClr val="C87524"/>
            </a:solidFill>
            <a:headEnd type="none" w="sm" len="sm"/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gp_individual:053:line"/>
          <p:cNvCxnSpPr/>
          <p:nvPr/>
        </p:nvCxnSpPr>
        <p:spPr>
          <a:xfrm>
            <a:off x="12594741" y="4132400"/>
            <a:ext cx="450293" cy="440287"/>
          </a:xfrm>
          <a:prstGeom prst="line">
            <a:avLst/>
          </a:prstGeom>
          <a:ln w="21590">
            <a:solidFill>
              <a:srgbClr val="C87524"/>
            </a:solidFill>
            <a:headEnd type="none" w="sm" len="sm"/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gp_individual:054:line"/>
          <p:cNvCxnSpPr/>
          <p:nvPr/>
        </p:nvCxnSpPr>
        <p:spPr>
          <a:xfrm flipH="1">
            <a:off x="11381920" y="4958828"/>
            <a:ext cx="315615" cy="396775"/>
          </a:xfrm>
          <a:prstGeom prst="line">
            <a:avLst/>
          </a:prstGeom>
          <a:ln w="21590">
            <a:solidFill>
              <a:srgbClr val="C87524"/>
            </a:solidFill>
            <a:headEnd type="none" w="sm" len="sm"/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6" name="gp_individual:055:line"/>
          <p:cNvCxnSpPr/>
          <p:nvPr/>
        </p:nvCxnSpPr>
        <p:spPr>
          <a:xfrm>
            <a:off x="12026153" y="4955454"/>
            <a:ext cx="334741" cy="403523"/>
          </a:xfrm>
          <a:prstGeom prst="line">
            <a:avLst/>
          </a:prstGeom>
          <a:ln w="21590">
            <a:solidFill>
              <a:srgbClr val="C87524"/>
            </a:solidFill>
            <a:headEnd type="none" w="sm" len="sm"/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gp_individual:056:tree:T_offer:max"/>
          <p:cNvSpPr/>
          <p:nvPr/>
        </p:nvSpPr>
        <p:spPr>
          <a:xfrm>
            <a:off x="11430000" y="2761488"/>
            <a:ext cx="768096" cy="76809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87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" rIns="13716" tIns="13716" bIns="13716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C87524"/>
                </a:solidFill>
                <a:latin typeface="Arial"/>
              </a:rPr>
              <a:t>max</a:t>
            </a:r>
          </a:p>
        </p:txBody>
      </p:sp>
      <p:sp>
        <p:nvSpPr>
          <p:cNvPr id="58" name="gp_individual:057:tree:T_offer:0"/>
          <p:cNvSpPr/>
          <p:nvPr/>
        </p:nvSpPr>
        <p:spPr>
          <a:xfrm>
            <a:off x="10364724" y="3689604"/>
            <a:ext cx="521207" cy="52120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87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" rIns="13716" tIns="13716" bIns="13716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C87524"/>
                </a:solidFill>
                <a:latin typeface="Arial"/>
              </a:rPr>
              <a:t>0</a:t>
            </a:r>
          </a:p>
        </p:txBody>
      </p:sp>
      <p:sp>
        <p:nvSpPr>
          <p:cNvPr id="59" name="gp_individual:058:tree:T_offer:−"/>
          <p:cNvSpPr/>
          <p:nvPr/>
        </p:nvSpPr>
        <p:spPr>
          <a:xfrm>
            <a:off x="12147804" y="3689604"/>
            <a:ext cx="521207" cy="52120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87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" rIns="13716" tIns="13716" bIns="13716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C87524"/>
                </a:solidFill>
                <a:latin typeface="Arial"/>
              </a:rPr>
              <a:t>−</a:t>
            </a:r>
          </a:p>
        </p:txBody>
      </p:sp>
      <p:sp>
        <p:nvSpPr>
          <p:cNvPr id="60" name="gp_individual:059:tree:T_offer:−"/>
          <p:cNvSpPr/>
          <p:nvPr/>
        </p:nvSpPr>
        <p:spPr>
          <a:xfrm>
            <a:off x="11599164" y="4494276"/>
            <a:ext cx="521207" cy="52120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87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" rIns="13716" tIns="13716" bIns="13716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C87524"/>
                </a:solidFill>
                <a:latin typeface="Arial"/>
              </a:rPr>
              <a:t>−</a:t>
            </a:r>
          </a:p>
        </p:txBody>
      </p:sp>
      <p:sp>
        <p:nvSpPr>
          <p:cNvPr id="61" name="gp_individual:060:tree:T_offer:F2"/>
          <p:cNvSpPr/>
          <p:nvPr/>
        </p:nvSpPr>
        <p:spPr>
          <a:xfrm>
            <a:off x="12970764" y="4494276"/>
            <a:ext cx="521207" cy="52120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87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" rIns="13716" tIns="13716" bIns="13716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C87524"/>
                </a:solidFill>
                <a:latin typeface="Arial"/>
              </a:rPr>
              <a:t>F2</a:t>
            </a:r>
          </a:p>
        </p:txBody>
      </p:sp>
      <p:sp>
        <p:nvSpPr>
          <p:cNvPr id="62" name="gp_individual:061:tree:T_offer:I"/>
          <p:cNvSpPr/>
          <p:nvPr/>
        </p:nvSpPr>
        <p:spPr>
          <a:xfrm>
            <a:off x="10959084" y="5298948"/>
            <a:ext cx="521207" cy="52120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87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" rIns="13716" tIns="13716" bIns="13716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C87524"/>
                </a:solidFill>
                <a:latin typeface="Arial"/>
              </a:rPr>
              <a:t>I</a:t>
            </a:r>
          </a:p>
        </p:txBody>
      </p:sp>
      <p:sp>
        <p:nvSpPr>
          <p:cNvPr id="63" name="gp_individual:062:tree:T_offer:F1"/>
          <p:cNvSpPr/>
          <p:nvPr/>
        </p:nvSpPr>
        <p:spPr>
          <a:xfrm>
            <a:off x="12266676" y="5298948"/>
            <a:ext cx="521207" cy="52120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C8752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3716" rIns="13716" tIns="13716" bIns="13716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C87524"/>
                </a:solidFill>
                <a:latin typeface="Arial"/>
              </a:rPr>
              <a:t>F1</a:t>
            </a:r>
          </a:p>
        </p:txBody>
      </p:sp>
      <p:sp>
        <p:nvSpPr>
          <p:cNvPr id="64" name="gp_individual:063:round"/>
          <p:cNvSpPr/>
          <p:nvPr/>
        </p:nvSpPr>
        <p:spPr>
          <a:xfrm>
            <a:off x="10021824" y="7004304"/>
            <a:ext cx="4005072" cy="448056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2369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6576" rIns="36576" tIns="36576" bIns="36576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369A4"/>
                </a:solidFill>
                <a:latin typeface="Arial"/>
              </a:rPr>
              <a:t>Fixed donor / offer cap</a:t>
            </a:r>
          </a:p>
        </p:txBody>
      </p:sp>
      <p:sp>
        <p:nvSpPr>
          <p:cNvPr id="65" name="gp_individual:064:text"/>
          <p:cNvSpPr txBox="1"/>
          <p:nvPr/>
        </p:nvSpPr>
        <p:spPr>
          <a:xfrm>
            <a:off x="502920" y="7575804"/>
            <a:ext cx="13533120" cy="32918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36477"/>
                </a:solidFill>
                <a:latin typeface="Arial"/>
              </a:rPr>
              <a:t>I: on-hand inventory   P: own pipeline total   F1, F2: exposed local forecasts.  The fixed layer selects the active donor / receiver role.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 name="timing">
    <p:spTree>
      <p:nvGrpSpPr>
        <p:cNvPr id="1" name=""/>
        <p:cNvGrpSpPr/>
        <p:nvPr/>
      </p:nvGrpSpPr>
      <p:grpSpPr/>
      <p:sp>
        <p:nvSpPr>
          <p:cNvPr id="2" name="timing:001:rect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timing:002:text"/>
          <p:cNvSpPr txBox="1"/>
          <p:nvPr/>
        </p:nvSpPr>
        <p:spPr>
          <a:xfrm>
            <a:off x="457200" y="281813"/>
            <a:ext cx="13350240" cy="50622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203047"/>
                </a:solidFill>
                <a:latin typeface="Arial"/>
              </a:rPr>
              <a:t>Conditional promises are not realized transshipments</a:t>
            </a:r>
          </a:p>
        </p:txBody>
      </p:sp>
      <p:sp>
        <p:nvSpPr>
          <p:cNvPr id="4" name="timing:003:text"/>
          <p:cNvSpPr txBox="1"/>
          <p:nvPr/>
        </p:nvSpPr>
        <p:spPr>
          <a:xfrm>
            <a:off x="457200" y="877824"/>
            <a:ext cx="13716000" cy="51206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36477"/>
                </a:solidFill>
                <a:latin typeface="Arial"/>
              </a:rPr>
              <a:t>Negotiation precedes current demand. Physical dispatch is decided only by the fixed post-demand feasibility recheck.</a:t>
            </a:r>
          </a:p>
        </p:txBody>
      </p:sp>
      <p:cxnSp>
        <p:nvCxnSpPr>
          <p:cNvPr id="5" name="timing:004:line"/>
          <p:cNvCxnSpPr/>
          <p:nvPr/>
        </p:nvCxnSpPr>
        <p:spPr>
          <a:xfrm>
            <a:off x="457200" y="1444752"/>
            <a:ext cx="13716000" cy="0"/>
          </a:xfrm>
          <a:prstGeom prst="line">
            <a:avLst/>
          </a:prstGeom>
          <a:ln w="12700">
            <a:solidFill>
              <a:srgbClr val="D8E0E8"/>
            </a:solidFill>
            <a:headEnd type="none" w="sm" len="sm"/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iming:005:text"/>
          <p:cNvSpPr txBox="1"/>
          <p:nvPr/>
        </p:nvSpPr>
        <p:spPr>
          <a:xfrm>
            <a:off x="502920" y="1650492"/>
            <a:ext cx="13533120" cy="32918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87B5A"/>
                </a:solidFill>
                <a:latin typeface="Arial"/>
              </a:rPr>
              <a:t>PRE-DEMAND  |  local information + exposed forecasts + received peer messages</a:t>
            </a:r>
          </a:p>
        </p:txBody>
      </p:sp>
      <p:sp>
        <p:nvSpPr>
          <p:cNvPr id="7" name="timing:006:round"/>
          <p:cNvSpPr/>
          <p:nvPr/>
        </p:nvSpPr>
        <p:spPr>
          <a:xfrm>
            <a:off x="502920" y="2258568"/>
            <a:ext cx="3282696" cy="1133856"/>
          </a:xfrm>
          <a:prstGeom prst="roundRect">
            <a:avLst>
              <a:gd name="adj" fmla="val 9000"/>
            </a:avLst>
          </a:prstGeom>
          <a:solidFill>
            <a:srgbClr val="EDF8F1"/>
          </a:solidFill>
          <a:ln w="12700">
            <a:solidFill>
              <a:srgbClr val="287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8" name="timing:007:text"/>
          <p:cNvSpPr txBox="1"/>
          <p:nvPr/>
        </p:nvSpPr>
        <p:spPr>
          <a:xfrm>
            <a:off x="612648" y="2395728"/>
            <a:ext cx="3063240" cy="32918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87B5A"/>
                </a:solidFill>
                <a:latin typeface="Arial"/>
              </a:rPr>
              <a:t>1  Local observation</a:t>
            </a:r>
          </a:p>
        </p:txBody>
      </p:sp>
      <p:sp>
        <p:nvSpPr>
          <p:cNvPr id="9" name="timing:008:text"/>
          <p:cNvSpPr txBox="1"/>
          <p:nvPr/>
        </p:nvSpPr>
        <p:spPr>
          <a:xfrm>
            <a:off x="612648" y="2720340"/>
            <a:ext cx="3063240" cy="6217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3047"/>
                </a:solidFill>
                <a:latin typeface="Arial"/>
              </a:rPr>
              <a:t>Own inventory / pipeline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3047"/>
                </a:solidFill>
                <a:latin typeface="Arial"/>
              </a:rPr>
              <a:t>Forecasts / local costs</a:t>
            </a:r>
          </a:p>
        </p:txBody>
      </p:sp>
      <p:sp>
        <p:nvSpPr>
          <p:cNvPr id="10" name="timing:009:round"/>
          <p:cNvSpPr/>
          <p:nvPr/>
        </p:nvSpPr>
        <p:spPr>
          <a:xfrm>
            <a:off x="3950208" y="2258568"/>
            <a:ext cx="3282696" cy="1133856"/>
          </a:xfrm>
          <a:prstGeom prst="roundRect">
            <a:avLst>
              <a:gd name="adj" fmla="val 9000"/>
            </a:avLst>
          </a:prstGeom>
          <a:solidFill>
            <a:srgbClr val="EDF8F1"/>
          </a:solidFill>
          <a:ln w="12700">
            <a:solidFill>
              <a:srgbClr val="287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1" name="timing:010:text"/>
          <p:cNvSpPr txBox="1"/>
          <p:nvPr/>
        </p:nvSpPr>
        <p:spPr>
          <a:xfrm>
            <a:off x="4059936" y="2395728"/>
            <a:ext cx="3063240" cy="32918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87B5A"/>
                </a:solidFill>
                <a:latin typeface="Arial"/>
              </a:rPr>
              <a:t>2  Deterministic Skills</a:t>
            </a:r>
          </a:p>
        </p:txBody>
      </p:sp>
      <p:sp>
        <p:nvSpPr>
          <p:cNvPr id="12" name="timing:011:text"/>
          <p:cNvSpPr txBox="1"/>
          <p:nvPr/>
        </p:nvSpPr>
        <p:spPr>
          <a:xfrm>
            <a:off x="4059936" y="2720340"/>
            <a:ext cx="3063240" cy="6217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3047"/>
                </a:solidFill>
                <a:latin typeface="Arial"/>
              </a:rPr>
              <a:t>Evaluate shared frozen GP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3047"/>
                </a:solidFill>
                <a:latin typeface="Arial"/>
              </a:rPr>
              <a:t>Apply fixed roles and caps</a:t>
            </a:r>
          </a:p>
        </p:txBody>
      </p:sp>
      <p:sp>
        <p:nvSpPr>
          <p:cNvPr id="13" name="timing:012:round"/>
          <p:cNvSpPr/>
          <p:nvPr/>
        </p:nvSpPr>
        <p:spPr>
          <a:xfrm>
            <a:off x="7397496" y="2258568"/>
            <a:ext cx="3282696" cy="1133856"/>
          </a:xfrm>
          <a:prstGeom prst="roundRect">
            <a:avLst>
              <a:gd name="adj" fmla="val 9000"/>
            </a:avLst>
          </a:prstGeom>
          <a:solidFill>
            <a:srgbClr val="EDF8F1"/>
          </a:solidFill>
          <a:ln w="12700">
            <a:solidFill>
              <a:srgbClr val="287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4" name="timing:013:text"/>
          <p:cNvSpPr txBox="1"/>
          <p:nvPr/>
        </p:nvSpPr>
        <p:spPr>
          <a:xfrm>
            <a:off x="7507223" y="2395728"/>
            <a:ext cx="3063240" cy="32918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87B5A"/>
                </a:solidFill>
                <a:latin typeface="Arial"/>
              </a:rPr>
              <a:t>3  R peer rounds</a:t>
            </a:r>
          </a:p>
        </p:txBody>
      </p:sp>
      <p:sp>
        <p:nvSpPr>
          <p:cNvPr id="15" name="timing:014:text"/>
          <p:cNvSpPr txBox="1"/>
          <p:nvPr/>
        </p:nvSpPr>
        <p:spPr>
          <a:xfrm>
            <a:off x="7507223" y="2720340"/>
            <a:ext cx="3063240" cy="6217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3047"/>
                </a:solidFill>
                <a:latin typeface="Arial"/>
              </a:rPr>
              <a:t>Positive-gain mutual best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3047"/>
                </a:solidFill>
                <a:latin typeface="Arial"/>
              </a:rPr>
              <a:t>Reserve and confirm</a:t>
            </a:r>
          </a:p>
        </p:txBody>
      </p:sp>
      <p:sp>
        <p:nvSpPr>
          <p:cNvPr id="16" name="timing:015:round"/>
          <p:cNvSpPr/>
          <p:nvPr/>
        </p:nvSpPr>
        <p:spPr>
          <a:xfrm>
            <a:off x="10844784" y="2258568"/>
            <a:ext cx="3282696" cy="1133856"/>
          </a:xfrm>
          <a:prstGeom prst="roundRect">
            <a:avLst>
              <a:gd name="adj" fmla="val 9000"/>
            </a:avLst>
          </a:prstGeom>
          <a:solidFill>
            <a:srgbClr val="EDF8F1"/>
          </a:solidFill>
          <a:ln w="12700">
            <a:solidFill>
              <a:srgbClr val="287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7" name="timing:016:text"/>
          <p:cNvSpPr txBox="1"/>
          <p:nvPr/>
        </p:nvSpPr>
        <p:spPr>
          <a:xfrm>
            <a:off x="10954511" y="2395728"/>
            <a:ext cx="3063240" cy="32918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87B5A"/>
                </a:solidFill>
                <a:latin typeface="Arial"/>
              </a:rPr>
              <a:t>4  Conditional promises</a:t>
            </a:r>
          </a:p>
        </p:txBody>
      </p:sp>
      <p:sp>
        <p:nvSpPr>
          <p:cNvPr id="18" name="timing:017:text"/>
          <p:cNvSpPr txBox="1"/>
          <p:nvPr/>
        </p:nvSpPr>
        <p:spPr>
          <a:xfrm>
            <a:off x="10954511" y="2720340"/>
            <a:ext cx="3063240" cy="6217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3047"/>
                </a:solidFill>
                <a:latin typeface="Arial"/>
              </a:rPr>
              <a:t>Commit q_commit by partner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3047"/>
                </a:solidFill>
                <a:latin typeface="Arial"/>
              </a:rPr>
              <a:t>No physical dispatch yet</a:t>
            </a:r>
          </a:p>
        </p:txBody>
      </p:sp>
      <p:cxnSp>
        <p:nvCxnSpPr>
          <p:cNvPr id="19" name="timing:018:line"/>
          <p:cNvCxnSpPr/>
          <p:nvPr/>
        </p:nvCxnSpPr>
        <p:spPr>
          <a:xfrm>
            <a:off x="3785615" y="2834640"/>
            <a:ext cx="164593" cy="0"/>
          </a:xfrm>
          <a:prstGeom prst="line">
            <a:avLst/>
          </a:prstGeom>
          <a:ln w="21590">
            <a:solidFill>
              <a:srgbClr val="287B5A"/>
            </a:solidFill>
            <a:headEnd type="non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timing:019:line"/>
          <p:cNvCxnSpPr/>
          <p:nvPr/>
        </p:nvCxnSpPr>
        <p:spPr>
          <a:xfrm>
            <a:off x="7232904" y="2834640"/>
            <a:ext cx="164592" cy="0"/>
          </a:xfrm>
          <a:prstGeom prst="line">
            <a:avLst/>
          </a:prstGeom>
          <a:ln w="21590">
            <a:solidFill>
              <a:srgbClr val="287B5A"/>
            </a:solidFill>
            <a:headEnd type="non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timing:020:line"/>
          <p:cNvCxnSpPr/>
          <p:nvPr/>
        </p:nvCxnSpPr>
        <p:spPr>
          <a:xfrm>
            <a:off x="10680192" y="2834640"/>
            <a:ext cx="164592" cy="0"/>
          </a:xfrm>
          <a:prstGeom prst="line">
            <a:avLst/>
          </a:prstGeom>
          <a:ln w="21590">
            <a:solidFill>
              <a:srgbClr val="287B5A"/>
            </a:solidFill>
            <a:headEnd type="non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iming:021:round"/>
          <p:cNvSpPr/>
          <p:nvPr/>
        </p:nvSpPr>
        <p:spPr>
          <a:xfrm>
            <a:off x="502920" y="3685032"/>
            <a:ext cx="13624560" cy="539496"/>
          </a:xfrm>
          <a:prstGeom prst="roundRect">
            <a:avLst>
              <a:gd name="adj" fmla="val 9000"/>
            </a:avLst>
          </a:prstGeom>
          <a:solidFill>
            <a:srgbClr val="F4EEF9"/>
          </a:solidFill>
          <a:ln w="12700">
            <a:solidFill>
              <a:srgbClr val="8054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8054A7"/>
                </a:solidFill>
                <a:latin typeface="Arial"/>
              </a:rPr>
              <a:t>EVENT BOUNDARY: due arrivals → current demand → actual inventory and unmet demand</a:t>
            </a:r>
          </a:p>
        </p:txBody>
      </p:sp>
      <p:sp>
        <p:nvSpPr>
          <p:cNvPr id="23" name="timing:022:text"/>
          <p:cNvSpPr txBox="1"/>
          <p:nvPr/>
        </p:nvSpPr>
        <p:spPr>
          <a:xfrm>
            <a:off x="502920" y="4411979"/>
            <a:ext cx="5852160" cy="32918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8054A7"/>
                </a:solidFill>
                <a:latin typeface="Arial"/>
              </a:rPr>
              <a:t>POST-DEMAND  |  fixed physical execution</a:t>
            </a:r>
          </a:p>
        </p:txBody>
      </p:sp>
      <p:sp>
        <p:nvSpPr>
          <p:cNvPr id="24" name="timing:023:round"/>
          <p:cNvSpPr/>
          <p:nvPr/>
        </p:nvSpPr>
        <p:spPr>
          <a:xfrm>
            <a:off x="502920" y="5074920"/>
            <a:ext cx="3063240" cy="1225296"/>
          </a:xfrm>
          <a:prstGeom prst="roundRect">
            <a:avLst>
              <a:gd name="adj" fmla="val 9000"/>
            </a:avLst>
          </a:prstGeom>
          <a:solidFill>
            <a:srgbClr val="F4EEF9"/>
          </a:solidFill>
          <a:ln w="12700">
            <a:solidFill>
              <a:srgbClr val="8054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03047"/>
                </a:solidFill>
                <a:latin typeface="Arial"/>
              </a:rPr>
              <a:t>5  Feasibility recheck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03047"/>
                </a:solidFill>
                <a:latin typeface="Arial"/>
              </a:rPr>
              <a:t>Actual donor / receiver state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03047"/>
                </a:solidFill>
                <a:latin typeface="Arial"/>
              </a:rPr>
              <a:t>0 ≤ q_exec ≤ q_commit</a:t>
            </a:r>
          </a:p>
        </p:txBody>
      </p:sp>
      <p:sp>
        <p:nvSpPr>
          <p:cNvPr id="25" name="timing:024:round"/>
          <p:cNvSpPr/>
          <p:nvPr/>
        </p:nvSpPr>
        <p:spPr>
          <a:xfrm>
            <a:off x="4133087" y="5074920"/>
            <a:ext cx="2121408" cy="1225296"/>
          </a:xfrm>
          <a:prstGeom prst="roundRect">
            <a:avLst>
              <a:gd name="adj" fmla="val 9000"/>
            </a:avLst>
          </a:prstGeom>
          <a:solidFill>
            <a:srgbClr val="F4EEF9"/>
          </a:solidFill>
          <a:ln w="12700">
            <a:solidFill>
              <a:srgbClr val="8054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03047"/>
                </a:solidFill>
                <a:latin typeface="Arial"/>
              </a:rPr>
              <a:t>6  Realized flow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03047"/>
                </a:solidFill>
                <a:latin typeface="Arial"/>
              </a:rPr>
              <a:t>q_exec from actual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03047"/>
                </a:solidFill>
                <a:latin typeface="Arial"/>
              </a:rPr>
              <a:t>feasible bounds</a:t>
            </a:r>
          </a:p>
        </p:txBody>
      </p:sp>
      <p:cxnSp>
        <p:nvCxnSpPr>
          <p:cNvPr id="26" name="timing:025:line"/>
          <p:cNvCxnSpPr/>
          <p:nvPr/>
        </p:nvCxnSpPr>
        <p:spPr>
          <a:xfrm>
            <a:off x="3566160" y="5687568"/>
            <a:ext cx="566927" cy="0"/>
          </a:xfrm>
          <a:prstGeom prst="line">
            <a:avLst/>
          </a:prstGeom>
          <a:ln w="21590">
            <a:solidFill>
              <a:srgbClr val="8054A7"/>
            </a:solidFill>
            <a:headEnd type="non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iming:026:round"/>
          <p:cNvSpPr/>
          <p:nvPr/>
        </p:nvSpPr>
        <p:spPr>
          <a:xfrm>
            <a:off x="6967728" y="4727448"/>
            <a:ext cx="2907792" cy="758952"/>
          </a:xfrm>
          <a:prstGeom prst="roundRect">
            <a:avLst>
              <a:gd name="adj" fmla="val 9000"/>
            </a:avLst>
          </a:prstGeom>
          <a:solidFill>
            <a:srgbClr val="F4EEF9"/>
          </a:solidFill>
          <a:ln w="12700">
            <a:solidFill>
              <a:srgbClr val="8054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03047"/>
                </a:solidFill>
                <a:latin typeface="Arial"/>
              </a:rPr>
              <a:t>Full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03047"/>
                </a:solidFill>
                <a:latin typeface="Arial"/>
              </a:rPr>
              <a:t>q_exec = q_commit &gt; 0</a:t>
            </a:r>
          </a:p>
        </p:txBody>
      </p:sp>
      <p:cxnSp>
        <p:nvCxnSpPr>
          <p:cNvPr id="28" name="timing:027:line"/>
          <p:cNvCxnSpPr/>
          <p:nvPr/>
        </p:nvCxnSpPr>
        <p:spPr>
          <a:xfrm>
            <a:off x="6254496" y="5687568"/>
            <a:ext cx="329184" cy="0"/>
          </a:xfrm>
          <a:prstGeom prst="line">
            <a:avLst/>
          </a:prstGeom>
          <a:ln w="16510">
            <a:solidFill>
              <a:srgbClr val="8054A7"/>
            </a:solidFill>
            <a:headEnd type="none" w="sm" len="sm"/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timing:028:line"/>
          <p:cNvCxnSpPr/>
          <p:nvPr/>
        </p:nvCxnSpPr>
        <p:spPr>
          <a:xfrm flipV="1">
            <a:off x="6583680" y="5106924"/>
            <a:ext cx="0" cy="580644"/>
          </a:xfrm>
          <a:prstGeom prst="line">
            <a:avLst/>
          </a:prstGeom>
          <a:ln w="16510">
            <a:solidFill>
              <a:srgbClr val="8054A7"/>
            </a:solidFill>
            <a:headEnd type="none" w="sm" len="sm"/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timing:029:line"/>
          <p:cNvCxnSpPr/>
          <p:nvPr/>
        </p:nvCxnSpPr>
        <p:spPr>
          <a:xfrm>
            <a:off x="6583680" y="5106924"/>
            <a:ext cx="384048" cy="0"/>
          </a:xfrm>
          <a:prstGeom prst="line">
            <a:avLst/>
          </a:prstGeom>
          <a:ln w="16510">
            <a:solidFill>
              <a:srgbClr val="8054A7"/>
            </a:solidFill>
            <a:headEnd type="non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timing:030:line"/>
          <p:cNvCxnSpPr/>
          <p:nvPr/>
        </p:nvCxnSpPr>
        <p:spPr>
          <a:xfrm>
            <a:off x="9875520" y="5106924"/>
            <a:ext cx="320040" cy="0"/>
          </a:xfrm>
          <a:prstGeom prst="line">
            <a:avLst/>
          </a:prstGeom>
          <a:ln w="16510">
            <a:solidFill>
              <a:srgbClr val="8054A7"/>
            </a:solidFill>
            <a:headEnd type="none" w="sm" len="sm"/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timing:031:line"/>
          <p:cNvCxnSpPr/>
          <p:nvPr/>
        </p:nvCxnSpPr>
        <p:spPr>
          <a:xfrm>
            <a:off x="10195560" y="5106924"/>
            <a:ext cx="0" cy="955548"/>
          </a:xfrm>
          <a:prstGeom prst="line">
            <a:avLst/>
          </a:prstGeom>
          <a:ln w="16510">
            <a:solidFill>
              <a:srgbClr val="8054A7"/>
            </a:solidFill>
            <a:headEnd type="none" w="sm" len="sm"/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timing:032:line"/>
          <p:cNvCxnSpPr/>
          <p:nvPr/>
        </p:nvCxnSpPr>
        <p:spPr>
          <a:xfrm>
            <a:off x="10195560" y="6062472"/>
            <a:ext cx="301752" cy="0"/>
          </a:xfrm>
          <a:prstGeom prst="line">
            <a:avLst/>
          </a:prstGeom>
          <a:ln w="16510">
            <a:solidFill>
              <a:srgbClr val="8054A7"/>
            </a:solidFill>
            <a:headEnd type="non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iming:033:round"/>
          <p:cNvSpPr/>
          <p:nvPr/>
        </p:nvSpPr>
        <p:spPr>
          <a:xfrm>
            <a:off x="6967728" y="5733288"/>
            <a:ext cx="2907792" cy="758952"/>
          </a:xfrm>
          <a:prstGeom prst="roundRect">
            <a:avLst>
              <a:gd name="adj" fmla="val 9000"/>
            </a:avLst>
          </a:prstGeom>
          <a:solidFill>
            <a:srgbClr val="F4EEF9"/>
          </a:solidFill>
          <a:ln w="12700">
            <a:solidFill>
              <a:srgbClr val="8054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03047"/>
                </a:solidFill>
                <a:latin typeface="Arial"/>
              </a:rPr>
              <a:t>Partial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03047"/>
                </a:solidFill>
                <a:latin typeface="Arial"/>
              </a:rPr>
              <a:t>0 &lt; q_exec &lt; q_commit</a:t>
            </a:r>
          </a:p>
        </p:txBody>
      </p:sp>
      <p:cxnSp>
        <p:nvCxnSpPr>
          <p:cNvPr id="35" name="timing:034:line"/>
          <p:cNvCxnSpPr/>
          <p:nvPr/>
        </p:nvCxnSpPr>
        <p:spPr>
          <a:xfrm>
            <a:off x="6254496" y="5687568"/>
            <a:ext cx="329184" cy="0"/>
          </a:xfrm>
          <a:prstGeom prst="line">
            <a:avLst/>
          </a:prstGeom>
          <a:ln w="16510">
            <a:solidFill>
              <a:srgbClr val="8054A7"/>
            </a:solidFill>
            <a:headEnd type="none" w="sm" len="sm"/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timing:035:line"/>
          <p:cNvCxnSpPr/>
          <p:nvPr/>
        </p:nvCxnSpPr>
        <p:spPr>
          <a:xfrm>
            <a:off x="6583680" y="5687568"/>
            <a:ext cx="0" cy="425196"/>
          </a:xfrm>
          <a:prstGeom prst="line">
            <a:avLst/>
          </a:prstGeom>
          <a:ln w="16510">
            <a:solidFill>
              <a:srgbClr val="8054A7"/>
            </a:solidFill>
            <a:headEnd type="none" w="sm" len="sm"/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timing:036:line"/>
          <p:cNvCxnSpPr/>
          <p:nvPr/>
        </p:nvCxnSpPr>
        <p:spPr>
          <a:xfrm>
            <a:off x="6583680" y="6112764"/>
            <a:ext cx="384048" cy="0"/>
          </a:xfrm>
          <a:prstGeom prst="line">
            <a:avLst/>
          </a:prstGeom>
          <a:ln w="16510">
            <a:solidFill>
              <a:srgbClr val="8054A7"/>
            </a:solidFill>
            <a:headEnd type="non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timing:037:line"/>
          <p:cNvCxnSpPr/>
          <p:nvPr/>
        </p:nvCxnSpPr>
        <p:spPr>
          <a:xfrm>
            <a:off x="9875520" y="6112764"/>
            <a:ext cx="320040" cy="0"/>
          </a:xfrm>
          <a:prstGeom prst="line">
            <a:avLst/>
          </a:prstGeom>
          <a:ln w="16510">
            <a:solidFill>
              <a:srgbClr val="8054A7"/>
            </a:solidFill>
            <a:headEnd type="none" w="sm" len="sm"/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timing:038:line"/>
          <p:cNvCxnSpPr/>
          <p:nvPr/>
        </p:nvCxnSpPr>
        <p:spPr>
          <a:xfrm flipV="1">
            <a:off x="10195560" y="6062472"/>
            <a:ext cx="0" cy="50292"/>
          </a:xfrm>
          <a:prstGeom prst="line">
            <a:avLst/>
          </a:prstGeom>
          <a:ln w="16510">
            <a:solidFill>
              <a:srgbClr val="8054A7"/>
            </a:solidFill>
            <a:headEnd type="none" w="sm" len="sm"/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timing:039:line"/>
          <p:cNvCxnSpPr/>
          <p:nvPr/>
        </p:nvCxnSpPr>
        <p:spPr>
          <a:xfrm>
            <a:off x="10195560" y="6062472"/>
            <a:ext cx="301752" cy="0"/>
          </a:xfrm>
          <a:prstGeom prst="line">
            <a:avLst/>
          </a:prstGeom>
          <a:ln w="16510">
            <a:solidFill>
              <a:srgbClr val="8054A7"/>
            </a:solidFill>
            <a:headEnd type="non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iming:040:round"/>
          <p:cNvSpPr/>
          <p:nvPr/>
        </p:nvSpPr>
        <p:spPr>
          <a:xfrm>
            <a:off x="6967728" y="6739128"/>
            <a:ext cx="2907792" cy="758952"/>
          </a:xfrm>
          <a:prstGeom prst="roundRect">
            <a:avLst>
              <a:gd name="adj" fmla="val 9000"/>
            </a:avLst>
          </a:prstGeom>
          <a:solidFill>
            <a:srgbClr val="F4EEF9"/>
          </a:solidFill>
          <a:ln w="12700">
            <a:solidFill>
              <a:srgbClr val="8054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03047"/>
                </a:solidFill>
                <a:latin typeface="Arial"/>
              </a:rPr>
              <a:t>Cancelled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03047"/>
                </a:solidFill>
                <a:latin typeface="Arial"/>
              </a:rPr>
              <a:t>q_exec = 0</a:t>
            </a:r>
          </a:p>
        </p:txBody>
      </p:sp>
      <p:cxnSp>
        <p:nvCxnSpPr>
          <p:cNvPr id="42" name="timing:041:line"/>
          <p:cNvCxnSpPr/>
          <p:nvPr/>
        </p:nvCxnSpPr>
        <p:spPr>
          <a:xfrm>
            <a:off x="6254496" y="5687568"/>
            <a:ext cx="329184" cy="0"/>
          </a:xfrm>
          <a:prstGeom prst="line">
            <a:avLst/>
          </a:prstGeom>
          <a:ln w="16510">
            <a:solidFill>
              <a:srgbClr val="8054A7"/>
            </a:solidFill>
            <a:headEnd type="none" w="sm" len="sm"/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timing:042:line"/>
          <p:cNvCxnSpPr/>
          <p:nvPr/>
        </p:nvCxnSpPr>
        <p:spPr>
          <a:xfrm>
            <a:off x="6583680" y="5687568"/>
            <a:ext cx="0" cy="1431036"/>
          </a:xfrm>
          <a:prstGeom prst="line">
            <a:avLst/>
          </a:prstGeom>
          <a:ln w="16510">
            <a:solidFill>
              <a:srgbClr val="8054A7"/>
            </a:solidFill>
            <a:headEnd type="none" w="sm" len="sm"/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timing:043:line"/>
          <p:cNvCxnSpPr/>
          <p:nvPr/>
        </p:nvCxnSpPr>
        <p:spPr>
          <a:xfrm>
            <a:off x="6583680" y="7118604"/>
            <a:ext cx="384048" cy="0"/>
          </a:xfrm>
          <a:prstGeom prst="line">
            <a:avLst/>
          </a:prstGeom>
          <a:ln w="16510">
            <a:solidFill>
              <a:srgbClr val="8054A7"/>
            </a:solidFill>
            <a:headEnd type="non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timing:044:line"/>
          <p:cNvCxnSpPr/>
          <p:nvPr/>
        </p:nvCxnSpPr>
        <p:spPr>
          <a:xfrm>
            <a:off x="9875520" y="7118604"/>
            <a:ext cx="320040" cy="0"/>
          </a:xfrm>
          <a:prstGeom prst="line">
            <a:avLst/>
          </a:prstGeom>
          <a:ln w="16510">
            <a:solidFill>
              <a:srgbClr val="8054A7"/>
            </a:solidFill>
            <a:headEnd type="none" w="sm" len="sm"/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timing:045:line"/>
          <p:cNvCxnSpPr/>
          <p:nvPr/>
        </p:nvCxnSpPr>
        <p:spPr>
          <a:xfrm flipV="1">
            <a:off x="10195560" y="6062472"/>
            <a:ext cx="0" cy="1056132"/>
          </a:xfrm>
          <a:prstGeom prst="line">
            <a:avLst/>
          </a:prstGeom>
          <a:ln w="16510">
            <a:solidFill>
              <a:srgbClr val="8054A7"/>
            </a:solidFill>
            <a:headEnd type="none" w="sm" len="sm"/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timing:046:line"/>
          <p:cNvCxnSpPr/>
          <p:nvPr/>
        </p:nvCxnSpPr>
        <p:spPr>
          <a:xfrm>
            <a:off x="10195560" y="6062472"/>
            <a:ext cx="301752" cy="0"/>
          </a:xfrm>
          <a:prstGeom prst="line">
            <a:avLst/>
          </a:prstGeom>
          <a:ln w="16510">
            <a:solidFill>
              <a:srgbClr val="8054A7"/>
            </a:solidFill>
            <a:headEnd type="none" w="sm" len="sm"/>
            <a:tailEnd type="triangl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timing:047:round"/>
          <p:cNvSpPr/>
          <p:nvPr/>
        </p:nvSpPr>
        <p:spPr>
          <a:xfrm>
            <a:off x="10497312" y="4992624"/>
            <a:ext cx="3630168" cy="2148840"/>
          </a:xfrm>
          <a:prstGeom prst="roundRect">
            <a:avLst>
              <a:gd name="adj" fmla="val 9000"/>
            </a:avLst>
          </a:prstGeom>
          <a:solidFill>
            <a:srgbClr val="F4EEF9"/>
          </a:solidFill>
          <a:ln w="12700">
            <a:solidFill>
              <a:srgbClr val="8054A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03047"/>
                </a:solidFill>
                <a:latin typeface="Arial"/>
              </a:rPr>
              <a:t>7  State and accounting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03047"/>
                </a:solidFill>
                <a:latin typeface="Arial"/>
              </a:rPr>
              <a:t>Costs + losses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03047"/>
                </a:solidFill>
                <a:latin typeface="Arial"/>
              </a:rPr>
              <a:t>Pipeline update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03047"/>
                </a:solidFill>
                <a:latin typeface="Arial"/>
              </a:rPr>
              <a:t>Release reservations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03047"/>
                </a:solidFill>
                <a:latin typeface="Arial"/>
              </a:rPr>
              <a:t>History: actual flow only</a:t>
            </a:r>
          </a:p>
        </p:txBody>
      </p:sp>
      <p:sp>
        <p:nvSpPr>
          <p:cNvPr id="49" name="timing:048:text"/>
          <p:cNvSpPr txBox="1"/>
          <p:nvPr/>
        </p:nvSpPr>
        <p:spPr>
          <a:xfrm>
            <a:off x="594360" y="6729984"/>
            <a:ext cx="5669280" cy="71323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36477"/>
                </a:solidFill>
                <a:latin typeface="Arial"/>
              </a:rPr>
              <a:t>No post-demand oracle during negotiation.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36477"/>
                </a:solidFill>
                <a:latin typeface="Arial"/>
              </a:rPr>
              <a:t>A promise can execute fully, partly or not at all.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fixed_evaluator">
    <p:spTree>
      <p:nvGrpSpPr>
        <p:cNvPr id="1" name=""/>
        <p:cNvGrpSpPr/>
        <p:nvPr/>
      </p:nvGrpSpPr>
      <p:grpSpPr/>
      <p:sp>
        <p:nvSpPr>
          <p:cNvPr id="2" name="fixed_evaluator:001:rect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3" name="fixed_evaluator:002:text"/>
          <p:cNvSpPr txBox="1"/>
          <p:nvPr/>
        </p:nvSpPr>
        <p:spPr>
          <a:xfrm>
            <a:off x="457200" y="281813"/>
            <a:ext cx="13350240" cy="50622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900" b="1">
                <a:solidFill>
                  <a:srgbClr val="203047"/>
                </a:solidFill>
                <a:latin typeface="Arial"/>
              </a:rPr>
              <a:t>Fixed local gain evaluator and peer message interface</a:t>
            </a:r>
          </a:p>
        </p:txBody>
      </p:sp>
      <p:sp>
        <p:nvSpPr>
          <p:cNvPr id="4" name="fixed_evaluator:003:text"/>
          <p:cNvSpPr txBox="1"/>
          <p:nvPr/>
        </p:nvSpPr>
        <p:spPr>
          <a:xfrm>
            <a:off x="457200" y="877824"/>
            <a:ext cx="13716000" cy="51206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36477"/>
                </a:solidFill>
                <a:latin typeface="Arial"/>
              </a:rPr>
              <a:t>Conservative forecast caps keep Φ on linear branches. Heuristic ranking, not an expected-cost guarantee.</a:t>
            </a:r>
          </a:p>
        </p:txBody>
      </p:sp>
      <p:cxnSp>
        <p:nvCxnSpPr>
          <p:cNvPr id="5" name="fixed_evaluator:004:line"/>
          <p:cNvCxnSpPr/>
          <p:nvPr/>
        </p:nvCxnSpPr>
        <p:spPr>
          <a:xfrm>
            <a:off x="457200" y="1444752"/>
            <a:ext cx="13716000" cy="0"/>
          </a:xfrm>
          <a:prstGeom prst="line">
            <a:avLst/>
          </a:prstGeom>
          <a:ln w="12700">
            <a:solidFill>
              <a:srgbClr val="D8E0E8"/>
            </a:solidFill>
            <a:headEnd type="none" w="sm" len="sm"/>
            <a:tailEnd type="none" w="sm" len="sm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fixed_evaluator:005:round"/>
          <p:cNvSpPr/>
          <p:nvPr/>
        </p:nvSpPr>
        <p:spPr>
          <a:xfrm>
            <a:off x="457200" y="1737360"/>
            <a:ext cx="7863840" cy="5879592"/>
          </a:xfrm>
          <a:prstGeom prst="roundRect">
            <a:avLst>
              <a:gd name="adj" fmla="val 9000"/>
            </a:avLst>
          </a:prstGeom>
          <a:solidFill>
            <a:srgbClr val="F7F9FC"/>
          </a:solidFill>
          <a:ln w="12700">
            <a:solidFill>
              <a:srgbClr val="D8E0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7" name="fixed_evaluator:006:text"/>
          <p:cNvSpPr txBox="1"/>
          <p:nvPr/>
        </p:nvSpPr>
        <p:spPr>
          <a:xfrm>
            <a:off x="694944" y="1861185"/>
            <a:ext cx="7388352" cy="37414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87B5A"/>
                </a:solidFill>
                <a:latin typeface="Arial"/>
              </a:rPr>
              <a:t>Fixed forecast-slack proxy</a:t>
            </a:r>
          </a:p>
        </p:txBody>
      </p:sp>
      <p:sp>
        <p:nvSpPr>
          <p:cNvPr id="8" name="fixed_evaluator:007:round"/>
          <p:cNvSpPr/>
          <p:nvPr/>
        </p:nvSpPr>
        <p:spPr>
          <a:xfrm>
            <a:off x="704088" y="2432304"/>
            <a:ext cx="7370064" cy="850392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287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03047"/>
                </a:solidFill>
                <a:latin typeface="Arial"/>
              </a:rPr>
              <a:t>ρ = I + Σ pipeline − Σ exposed forecasts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03047"/>
                </a:solidFill>
                <a:latin typeface="Arial"/>
              </a:rPr>
              <a:t>ρ &gt; 0: donor;  ρ &lt; 0: receiver;  ρ = 0: inactive</a:t>
            </a:r>
          </a:p>
        </p:txBody>
      </p:sp>
      <p:sp>
        <p:nvSpPr>
          <p:cNvPr id="9" name="fixed_evaluator:008:round"/>
          <p:cNvSpPr/>
          <p:nvPr/>
        </p:nvSpPr>
        <p:spPr>
          <a:xfrm>
            <a:off x="704088" y="3493008"/>
            <a:ext cx="7370064" cy="59436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287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03047"/>
                </a:solidFill>
                <a:latin typeface="Arial"/>
              </a:rPr>
              <a:t>Φ(ρ) = h max(ρ, 0) + b max(−ρ, 0)</a:t>
            </a:r>
          </a:p>
        </p:txBody>
      </p:sp>
      <p:sp>
        <p:nvSpPr>
          <p:cNvPr id="10" name="fixed_evaluator:009:round"/>
          <p:cNvSpPr/>
          <p:nvPr/>
        </p:nvSpPr>
        <p:spPr>
          <a:xfrm>
            <a:off x="704088" y="4325112"/>
            <a:ext cx="3575304" cy="8686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287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03047"/>
                </a:solidFill>
                <a:latin typeface="Arial"/>
              </a:rPr>
              <a:t>Donor marginal cost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03047"/>
                </a:solidFill>
                <a:latin typeface="Arial"/>
              </a:rPr>
              <a:t>A(q) = Φ(ρ_d − q) − Φ(ρ_d)</a:t>
            </a:r>
          </a:p>
        </p:txBody>
      </p:sp>
      <p:sp>
        <p:nvSpPr>
          <p:cNvPr id="11" name="fixed_evaluator:010:round"/>
          <p:cNvSpPr/>
          <p:nvPr/>
        </p:nvSpPr>
        <p:spPr>
          <a:xfrm>
            <a:off x="4498848" y="4325112"/>
            <a:ext cx="3575304" cy="868680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287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03047"/>
                </a:solidFill>
                <a:latin typeface="Arial"/>
              </a:rPr>
              <a:t>Receiver marginal benefit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03047"/>
                </a:solidFill>
                <a:latin typeface="Arial"/>
              </a:rPr>
              <a:t>B(q) = Φ(ρ_r) − Φ(ρ_r + q)</a:t>
            </a:r>
          </a:p>
        </p:txBody>
      </p:sp>
      <p:sp>
        <p:nvSpPr>
          <p:cNvPr id="12" name="fixed_evaluator:011:round"/>
          <p:cNvSpPr/>
          <p:nvPr/>
        </p:nvSpPr>
        <p:spPr>
          <a:xfrm>
            <a:off x="704088" y="5431536"/>
            <a:ext cx="7370064" cy="841248"/>
          </a:xfrm>
          <a:prstGeom prst="roundRect">
            <a:avLst>
              <a:gd name="adj" fmla="val 9000"/>
            </a:avLst>
          </a:prstGeom>
          <a:solidFill>
            <a:srgbClr val="EDF8F1"/>
          </a:solidFill>
          <a:ln w="12700">
            <a:solidFill>
              <a:srgbClr val="287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73152" bIns="73152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87B5A"/>
                </a:solidFill>
                <a:latin typeface="Arial"/>
              </a:rPr>
              <a:t>G(q) = B(q) − A(q) − C_trans(q)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87B5A"/>
                </a:solidFill>
                <a:latin typeface="Arial"/>
              </a:rPr>
              <a:t>= (h_donor + b_receiver − c) q − K,  q &gt; 0</a:t>
            </a:r>
          </a:p>
        </p:txBody>
      </p:sp>
      <p:sp>
        <p:nvSpPr>
          <p:cNvPr id="13" name="fixed_evaluator:012:text"/>
          <p:cNvSpPr txBox="1"/>
          <p:nvPr/>
        </p:nvSpPr>
        <p:spPr>
          <a:xfrm>
            <a:off x="777240" y="6377940"/>
            <a:ext cx="7232904" cy="62179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36477"/>
                </a:solidFill>
                <a:latin typeface="Arial"/>
              </a:rPr>
              <a:t>Caps: request ≤ forecast deficit; offer ≤ forecast surplus.</a:t>
            </a:r>
          </a:p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536477"/>
                </a:solidFill>
                <a:latin typeface="Arial"/>
              </a:rPr>
              <a:t>A positive-gain pair takes largest q; no interior optimum.</a:t>
            </a:r>
          </a:p>
        </p:txBody>
      </p:sp>
      <p:sp>
        <p:nvSpPr>
          <p:cNvPr id="14" name="fixed_evaluator:013:round"/>
          <p:cNvSpPr/>
          <p:nvPr/>
        </p:nvSpPr>
        <p:spPr>
          <a:xfrm>
            <a:off x="704088" y="7114032"/>
            <a:ext cx="7370064" cy="466344"/>
          </a:xfrm>
          <a:prstGeom prst="roundRect">
            <a:avLst>
              <a:gd name="adj" fmla="val 9000"/>
            </a:avLst>
          </a:prstGeom>
          <a:solidFill>
            <a:srgbClr val="FFFFFF"/>
          </a:solidFill>
          <a:ln w="12700">
            <a:solidFill>
              <a:srgbClr val="287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3047"/>
                </a:solidFill>
                <a:latin typeface="Arial"/>
              </a:rPr>
              <a:t>q ∈ {0, 0.25, 0.5, 0.75, 1} × min(remaining offer, remaining request)</a:t>
            </a:r>
          </a:p>
        </p:txBody>
      </p:sp>
      <p:sp>
        <p:nvSpPr>
          <p:cNvPr id="15" name="fixed_evaluator:014:round"/>
          <p:cNvSpPr/>
          <p:nvPr/>
        </p:nvSpPr>
        <p:spPr>
          <a:xfrm>
            <a:off x="8686800" y="1737360"/>
            <a:ext cx="5486400" cy="3520440"/>
          </a:xfrm>
          <a:prstGeom prst="roundRect">
            <a:avLst>
              <a:gd name="adj" fmla="val 9000"/>
            </a:avLst>
          </a:prstGeom>
          <a:solidFill>
            <a:srgbClr val="EDF5FC"/>
          </a:solidFill>
          <a:ln w="12700">
            <a:solidFill>
              <a:srgbClr val="2369A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16" name="fixed_evaluator:015:text"/>
          <p:cNvSpPr txBox="1"/>
          <p:nvPr/>
        </p:nvSpPr>
        <p:spPr>
          <a:xfrm>
            <a:off x="8933688" y="1879473"/>
            <a:ext cx="4992624" cy="37414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369A4"/>
                </a:solidFill>
                <a:latin typeface="Arial"/>
              </a:rPr>
              <a:t>Local message schema (illustrative)</a:t>
            </a:r>
          </a:p>
        </p:txBody>
      </p:sp>
      <p:sp>
        <p:nvSpPr>
          <p:cNvPr id="17" name="fixed_evaluator:016:text"/>
          <p:cNvSpPr txBox="1"/>
          <p:nvPr/>
        </p:nvSpPr>
        <p:spPr>
          <a:xfrm>
            <a:off x="8933688" y="2542032"/>
            <a:ext cx="4983480" cy="1965960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3047"/>
                </a:solidFill>
                <a:latin typeface="Arial"/>
              </a:rPr>
              <a:t>Header: site / peer IDs, period, round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3047"/>
                </a:solidFill>
                <a:latin typeface="Arial"/>
              </a:rPr>
              <a:t>Role: request or offer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3047"/>
                </a:solidFill>
                <a:latin typeface="Arial"/>
              </a:rPr>
              <a:t>Remaining request / offer quantity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3047"/>
                </a:solidFill>
                <a:latin typeface="Arial"/>
              </a:rPr>
              <a:t>Candidate q and local marginal values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3047"/>
                </a:solidFill>
                <a:latin typeface="Arial"/>
              </a:rPr>
              <a:t>Common ranking / deterministic tie key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3047"/>
                </a:solidFill>
                <a:latin typeface="Arial"/>
              </a:rPr>
              <a:t>Confirm or release; reservation token</a:t>
            </a:r>
          </a:p>
        </p:txBody>
      </p:sp>
      <p:sp>
        <p:nvSpPr>
          <p:cNvPr id="18" name="fixed_evaluator:017:text"/>
          <p:cNvSpPr txBox="1"/>
          <p:nvPr/>
        </p:nvSpPr>
        <p:spPr>
          <a:xfrm>
            <a:off x="8933688" y="4658868"/>
            <a:ext cx="4983480" cy="329184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2369A4"/>
                </a:solidFill>
                <a:latin typeface="Arial"/>
              </a:rPr>
              <a:t>Private inventory, pipeline, forecasts.</a:t>
            </a:r>
          </a:p>
        </p:txBody>
      </p:sp>
      <p:sp>
        <p:nvSpPr>
          <p:cNvPr id="19" name="fixed_evaluator:018:round"/>
          <p:cNvSpPr/>
          <p:nvPr/>
        </p:nvSpPr>
        <p:spPr>
          <a:xfrm>
            <a:off x="8686800" y="5513832"/>
            <a:ext cx="5486400" cy="2103120"/>
          </a:xfrm>
          <a:prstGeom prst="roundRect">
            <a:avLst>
              <a:gd name="adj" fmla="val 9000"/>
            </a:avLst>
          </a:prstGeom>
          <a:solidFill>
            <a:srgbClr val="EDF8F1"/>
          </a:solidFill>
          <a:ln w="12700">
            <a:solidFill>
              <a:srgbClr val="287B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109728" bIns="109728"/>
          <a:lstStyle/>
          <a:p>
            <a:pPr algn="ctr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</a:p>
        </p:txBody>
      </p:sp>
      <p:sp>
        <p:nvSpPr>
          <p:cNvPr id="20" name="fixed_evaluator:019:text"/>
          <p:cNvSpPr txBox="1"/>
          <p:nvPr/>
        </p:nvSpPr>
        <p:spPr>
          <a:xfrm>
            <a:off x="8933688" y="5637657"/>
            <a:ext cx="4992624" cy="37414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87B5A"/>
                </a:solidFill>
                <a:latin typeface="Arial"/>
              </a:rPr>
              <a:t>Fixed protocol invariants</a:t>
            </a:r>
          </a:p>
        </p:txBody>
      </p:sp>
      <p:sp>
        <p:nvSpPr>
          <p:cNvPr id="21" name="fixed_evaluator:020:text"/>
          <p:cNvSpPr txBox="1"/>
          <p:nvPr/>
        </p:nvSpPr>
        <p:spPr>
          <a:xfrm>
            <a:off x="8933688" y="6176772"/>
            <a:ext cx="4983480" cy="1216152"/>
          </a:xfrm>
          <a:prstGeom prst="rect">
            <a:avLst/>
          </a:prstGeom>
          <a:noFill/>
          <a:effectLst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3047"/>
                </a:solidFill>
                <a:latin typeface="Arial"/>
              </a:rPr>
              <a:t>• Common total ranking of positive-gain edges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3047"/>
                </a:solidFill>
                <a:latin typeface="Arial"/>
              </a:rPr>
              <a:t>• Mutual best; at most one partner / round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3047"/>
                </a:solidFill>
                <a:latin typeface="Arial"/>
              </a:rPr>
              <a:t>• Reserve / confirm prevents overpromise</a:t>
            </a:r>
          </a:p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0"/>
              </a:spcAft>
            </a:pPr>
            <a:r>
              <a:rPr sz="1800" b="0">
                <a:solidFill>
                  <a:srgbClr val="203047"/>
                </a:solidFill>
                <a:latin typeface="Arial"/>
              </a:rPr>
              <a:t>• No receive-forward within the period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PACT-GP: Genetic Programming for Skill-Based Agent Coordination in Multi-Site Inventory Control</dc:title>
  <dc:subject>PACT-GP: peer-agent coordination with a shared three-tree policy</dc:subject>
  <dc:creator>InventoryControl research</dc:creator>
  <cp:keywords>PACT-GP, genetic programming, agent, skill, peer negotiation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